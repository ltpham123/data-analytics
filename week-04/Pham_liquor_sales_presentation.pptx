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56" r:id="rId2"/>
    <p:sldId id="257" r:id="rId3"/>
    <p:sldId id="272" r:id="rId4"/>
    <p:sldId id="258" r:id="rId5"/>
    <p:sldId id="273" r:id="rId6"/>
    <p:sldId id="270" r:id="rId7"/>
    <p:sldId id="274" r:id="rId8"/>
    <p:sldId id="275" r:id="rId9"/>
    <p:sldId id="260" r:id="rId10"/>
    <p:sldId id="278" r:id="rId11"/>
    <p:sldId id="261" r:id="rId12"/>
    <p:sldId id="262" r:id="rId13"/>
    <p:sldId id="265" r:id="rId14"/>
    <p:sldId id="279" r:id="rId15"/>
    <p:sldId id="267" r:id="rId16"/>
    <p:sldId id="276"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0" autoAdjust="0"/>
    <p:restoredTop sz="76091" autoAdjust="0"/>
  </p:normalViewPr>
  <p:slideViewPr>
    <p:cSldViewPr snapToGrid="0">
      <p:cViewPr varScale="1">
        <p:scale>
          <a:sx n="54" d="100"/>
          <a:sy n="54" d="100"/>
        </p:scale>
        <p:origin x="78" y="14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FB398-5626-4DAA-BD19-B2F8F3D1EB3C}"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18230D-6974-4A26-8365-62E356C4785F}" type="slidenum">
              <a:rPr lang="en-US" smtClean="0"/>
              <a:t>‹#›</a:t>
            </a:fld>
            <a:endParaRPr lang="en-US"/>
          </a:p>
        </p:txBody>
      </p:sp>
    </p:spTree>
    <p:extLst>
      <p:ext uri="{BB962C8B-B14F-4D97-AF65-F5344CB8AC3E}">
        <p14:creationId xmlns:p14="http://schemas.microsoft.com/office/powerpoint/2010/main" val="1036821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18230D-6974-4A26-8365-62E356C4785F}" type="slidenum">
              <a:rPr lang="en-US" smtClean="0"/>
              <a:t>1</a:t>
            </a:fld>
            <a:endParaRPr lang="en-US"/>
          </a:p>
        </p:txBody>
      </p:sp>
    </p:spTree>
    <p:extLst>
      <p:ext uri="{BB962C8B-B14F-4D97-AF65-F5344CB8AC3E}">
        <p14:creationId xmlns:p14="http://schemas.microsoft.com/office/powerpoint/2010/main" val="3788611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been brought on as a data consultant by Constellation Brands to analyze sales performance using the Iowa Liquor Sales database, with a specific focus on transactions from 2014. The company wants to better understand how one of its product categories or brands performed during that year across different markets to inform future strategy.</a:t>
            </a:r>
          </a:p>
          <a:p>
            <a:r>
              <a:rPr lang="en-US" dirty="0"/>
              <a:t>Your role is to conduct a SWOT-style analysis by writing SQL queries that explore transaction data, product performance, store activity, and regional trends. You will focus on a specific category or vendor within the dataset to identify strengths, weaknesses, opportunities, and threats based on 2014 sales data.</a:t>
            </a:r>
          </a:p>
          <a:p>
            <a:r>
              <a:rPr lang="en-US" dirty="0"/>
              <a:t>As part of your analysis, you will generate insights from the data and export selected results to create visualizations that support your findings. These insights will be used to present actionable recommendations to Constellation Brands’ leadership team.</a:t>
            </a:r>
          </a:p>
          <a:p>
            <a:r>
              <a:rPr lang="en-US" dirty="0"/>
              <a:t>(OpenAI 2026)</a:t>
            </a:r>
          </a:p>
        </p:txBody>
      </p:sp>
      <p:sp>
        <p:nvSpPr>
          <p:cNvPr id="4" name="Slide Number Placeholder 3"/>
          <p:cNvSpPr>
            <a:spLocks noGrp="1"/>
          </p:cNvSpPr>
          <p:nvPr>
            <p:ph type="sldNum" sz="quarter" idx="5"/>
          </p:nvPr>
        </p:nvSpPr>
        <p:spPr/>
        <p:txBody>
          <a:bodyPr/>
          <a:lstStyle/>
          <a:p>
            <a:fld id="{9A18230D-6974-4A26-8365-62E356C4785F}" type="slidenum">
              <a:rPr lang="en-US" smtClean="0"/>
              <a:t>2</a:t>
            </a:fld>
            <a:endParaRPr lang="en-US"/>
          </a:p>
        </p:txBody>
      </p:sp>
    </p:spTree>
    <p:extLst>
      <p:ext uri="{BB962C8B-B14F-4D97-AF65-F5344CB8AC3E}">
        <p14:creationId xmlns:p14="http://schemas.microsoft.com/office/powerpoint/2010/main" val="3156598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a:p>
            <a:r>
              <a:rPr lang="en-US" dirty="0"/>
              <a:t>Year 2014</a:t>
            </a:r>
          </a:p>
          <a:p>
            <a:endParaRPr lang="en-US" dirty="0"/>
          </a:p>
        </p:txBody>
      </p:sp>
      <p:sp>
        <p:nvSpPr>
          <p:cNvPr id="4" name="Slide Number Placeholder 3"/>
          <p:cNvSpPr>
            <a:spLocks noGrp="1"/>
          </p:cNvSpPr>
          <p:nvPr>
            <p:ph type="sldNum" sz="quarter" idx="5"/>
          </p:nvPr>
        </p:nvSpPr>
        <p:spPr/>
        <p:txBody>
          <a:bodyPr/>
          <a:lstStyle/>
          <a:p>
            <a:fld id="{9A18230D-6974-4A26-8365-62E356C4785F}" type="slidenum">
              <a:rPr lang="en-US" smtClean="0"/>
              <a:t>4</a:t>
            </a:fld>
            <a:endParaRPr lang="en-US"/>
          </a:p>
        </p:txBody>
      </p:sp>
    </p:spTree>
    <p:extLst>
      <p:ext uri="{BB962C8B-B14F-4D97-AF65-F5344CB8AC3E}">
        <p14:creationId xmlns:p14="http://schemas.microsoft.com/office/powerpoint/2010/main" val="1028827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C9233-2773-E890-0A10-67E679A50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7D78E-112E-92C3-B3BC-AE71E617B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D2C95-B549-B3A1-59A3-53C8090F521D}"/>
              </a:ext>
            </a:extLst>
          </p:cNvPr>
          <p:cNvSpPr>
            <a:spLocks noGrp="1"/>
          </p:cNvSpPr>
          <p:nvPr>
            <p:ph type="body" idx="1"/>
          </p:nvPr>
        </p:nvSpPr>
        <p:spPr/>
        <p:txBody>
          <a:bodyPr/>
          <a:lstStyle/>
          <a:p>
            <a:r>
              <a:rPr lang="en-US" dirty="0"/>
              <a:t>Notes:</a:t>
            </a:r>
          </a:p>
          <a:p>
            <a:r>
              <a:rPr lang="en-US" dirty="0"/>
              <a:t>Revenue</a:t>
            </a:r>
          </a:p>
          <a:p>
            <a:pPr lvl="1"/>
            <a:r>
              <a:rPr lang="en-US" dirty="0"/>
              <a:t>Average revenue generated per county: $235K</a:t>
            </a:r>
          </a:p>
          <a:p>
            <a:pPr lvl="1"/>
            <a:r>
              <a:rPr lang="en-US" dirty="0"/>
              <a:t>Highest: Polk; lowest: Keokuk</a:t>
            </a:r>
          </a:p>
          <a:p>
            <a:r>
              <a:rPr lang="en-US" dirty="0"/>
              <a:t>Polk, Linn, and Black Hawk were our highest revenue generators</a:t>
            </a:r>
          </a:p>
          <a:p>
            <a:pPr lvl="1"/>
            <a:r>
              <a:rPr lang="en-US" dirty="0"/>
              <a:t>Over $1M in sales</a:t>
            </a:r>
          </a:p>
          <a:p>
            <a:r>
              <a:rPr lang="en-US" dirty="0"/>
              <a:t>Keokuk, Hancock, Mills were our lowest revenue generator</a:t>
            </a:r>
          </a:p>
          <a:p>
            <a:endParaRPr lang="en-US" dirty="0"/>
          </a:p>
        </p:txBody>
      </p:sp>
      <p:sp>
        <p:nvSpPr>
          <p:cNvPr id="4" name="Slide Number Placeholder 3">
            <a:extLst>
              <a:ext uri="{FF2B5EF4-FFF2-40B4-BE49-F238E27FC236}">
                <a16:creationId xmlns:a16="http://schemas.microsoft.com/office/drawing/2014/main" id="{0F2CD9AF-3347-30E8-2912-A03B3C20B178}"/>
              </a:ext>
            </a:extLst>
          </p:cNvPr>
          <p:cNvSpPr>
            <a:spLocks noGrp="1"/>
          </p:cNvSpPr>
          <p:nvPr>
            <p:ph type="sldNum" sz="quarter" idx="5"/>
          </p:nvPr>
        </p:nvSpPr>
        <p:spPr/>
        <p:txBody>
          <a:bodyPr/>
          <a:lstStyle/>
          <a:p>
            <a:fld id="{9A18230D-6974-4A26-8365-62E356C4785F}" type="slidenum">
              <a:rPr lang="en-US" smtClean="0"/>
              <a:t>6</a:t>
            </a:fld>
            <a:endParaRPr lang="en-US"/>
          </a:p>
        </p:txBody>
      </p:sp>
    </p:spTree>
    <p:extLst>
      <p:ext uri="{BB962C8B-B14F-4D97-AF65-F5344CB8AC3E}">
        <p14:creationId xmlns:p14="http://schemas.microsoft.com/office/powerpoint/2010/main" val="451402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set the pace, we can widen the gap, but we will own the finish line</a:t>
            </a:r>
          </a:p>
        </p:txBody>
      </p:sp>
      <p:sp>
        <p:nvSpPr>
          <p:cNvPr id="4" name="Slide Number Placeholder 3"/>
          <p:cNvSpPr>
            <a:spLocks noGrp="1"/>
          </p:cNvSpPr>
          <p:nvPr>
            <p:ph type="sldNum" sz="quarter" idx="5"/>
          </p:nvPr>
        </p:nvSpPr>
        <p:spPr/>
        <p:txBody>
          <a:bodyPr/>
          <a:lstStyle/>
          <a:p>
            <a:fld id="{9A18230D-6974-4A26-8365-62E356C4785F}" type="slidenum">
              <a:rPr lang="en-US" smtClean="0"/>
              <a:t>11</a:t>
            </a:fld>
            <a:endParaRPr lang="en-US"/>
          </a:p>
        </p:txBody>
      </p:sp>
    </p:spTree>
    <p:extLst>
      <p:ext uri="{BB962C8B-B14F-4D97-AF65-F5344CB8AC3E}">
        <p14:creationId xmlns:p14="http://schemas.microsoft.com/office/powerpoint/2010/main" val="3511772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the Beer market and Wine market to see improvement</a:t>
            </a:r>
          </a:p>
          <a:p>
            <a:r>
              <a:rPr lang="en-US" dirty="0"/>
              <a:t>	Acquisition of Modelo to enter the beer market in 2013</a:t>
            </a:r>
          </a:p>
          <a:p>
            <a:endParaRPr lang="en-US" dirty="0"/>
          </a:p>
          <a:p>
            <a:r>
              <a:rPr lang="en-US" dirty="0"/>
              <a:t>We have influence in </a:t>
            </a:r>
            <a:r>
              <a:rPr lang="en-US" b="1" u="sng" dirty="0">
                <a:solidFill>
                  <a:srgbClr val="00B050"/>
                </a:solidFill>
              </a:rPr>
              <a:t>100%</a:t>
            </a:r>
            <a:r>
              <a:rPr lang="en-US" dirty="0"/>
              <a:t> of Iowa</a:t>
            </a:r>
          </a:p>
          <a:p>
            <a:r>
              <a:rPr lang="en-US" dirty="0"/>
              <a:t>Scale spender efficiency to larger markets through marketing recreational activities/promotions</a:t>
            </a:r>
          </a:p>
          <a:p>
            <a:pPr lvl="1"/>
            <a:r>
              <a:rPr lang="en-US" dirty="0"/>
              <a:t>Potential global revenue growth </a:t>
            </a:r>
            <a:r>
              <a:rPr lang="en-US" b="1" u="sng" dirty="0">
                <a:solidFill>
                  <a:srgbClr val="00B050"/>
                </a:solidFill>
              </a:rPr>
              <a:t>over 100%</a:t>
            </a:r>
          </a:p>
          <a:p>
            <a:r>
              <a:rPr lang="en-US" dirty="0"/>
              <a:t>More budget towards researching and marketing Black Velvet and its variants; whisky industry</a:t>
            </a:r>
          </a:p>
          <a:p>
            <a:pPr lvl="1"/>
            <a:r>
              <a:rPr lang="en-US" dirty="0"/>
              <a:t>Replicate its success among </a:t>
            </a:r>
            <a:r>
              <a:rPr lang="en-US" dirty="0" err="1"/>
              <a:t>Svedka</a:t>
            </a:r>
            <a:endParaRPr lang="en-US" dirty="0"/>
          </a:p>
          <a:p>
            <a:pPr lvl="1"/>
            <a:r>
              <a:rPr lang="en-US" dirty="0"/>
              <a:t>May be expensive</a:t>
            </a:r>
          </a:p>
          <a:p>
            <a:r>
              <a:rPr lang="en-US" dirty="0"/>
              <a:t>Reconsider Tequila pilot marketing or drop completely</a:t>
            </a:r>
          </a:p>
          <a:p>
            <a:r>
              <a:rPr lang="en-US" dirty="0"/>
              <a:t>As with customer loyalty, make our brands </a:t>
            </a:r>
            <a:r>
              <a:rPr lang="en-US" b="1" u="sng" dirty="0"/>
              <a:t>worth reaching for</a:t>
            </a:r>
            <a:endParaRPr lang="en-US" dirty="0"/>
          </a:p>
        </p:txBody>
      </p:sp>
      <p:sp>
        <p:nvSpPr>
          <p:cNvPr id="4" name="Slide Number Placeholder 3"/>
          <p:cNvSpPr>
            <a:spLocks noGrp="1"/>
          </p:cNvSpPr>
          <p:nvPr>
            <p:ph type="sldNum" sz="quarter" idx="5"/>
          </p:nvPr>
        </p:nvSpPr>
        <p:spPr/>
        <p:txBody>
          <a:bodyPr/>
          <a:lstStyle/>
          <a:p>
            <a:fld id="{9A18230D-6974-4A26-8365-62E356C4785F}" type="slidenum">
              <a:rPr lang="en-US" smtClean="0"/>
              <a:t>15</a:t>
            </a:fld>
            <a:endParaRPr lang="en-US"/>
          </a:p>
        </p:txBody>
      </p:sp>
    </p:spTree>
    <p:extLst>
      <p:ext uri="{BB962C8B-B14F-4D97-AF65-F5344CB8AC3E}">
        <p14:creationId xmlns:p14="http://schemas.microsoft.com/office/powerpoint/2010/main" val="2836736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0C216-ABBE-8D37-C37F-25FA8887FF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52CE6F-A9AB-95E3-80B4-8B39C823C1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4872CC-F1D2-7C0B-7A91-5A7EA4E72DBD}"/>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5" name="Footer Placeholder 4">
            <a:extLst>
              <a:ext uri="{FF2B5EF4-FFF2-40B4-BE49-F238E27FC236}">
                <a16:creationId xmlns:a16="http://schemas.microsoft.com/office/drawing/2014/main" id="{925D5788-5883-2A0C-8360-5479C99E0F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691AB2-C3DE-1CF3-CB19-650B7D48BDF2}"/>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4268001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4E2C8-0B2E-AE1A-1B12-F1A032C6AC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ACFF8B-A2F6-B385-2F04-9B0B9B95D4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4AA8E-0B26-049B-58E0-F05C6AE4EF20}"/>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5" name="Footer Placeholder 4">
            <a:extLst>
              <a:ext uri="{FF2B5EF4-FFF2-40B4-BE49-F238E27FC236}">
                <a16:creationId xmlns:a16="http://schemas.microsoft.com/office/drawing/2014/main" id="{41360ED6-4D01-07D7-D5CA-A9E77491AD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D3BF3C-1B50-9F23-AA1F-FEFB196AB263}"/>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264557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99B5-76AD-49B9-D94A-D4D854A225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A59465-592E-3469-09C7-83341AD711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7F5368-ED94-0E04-D4CB-59AC54E871D5}"/>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5" name="Footer Placeholder 4">
            <a:extLst>
              <a:ext uri="{FF2B5EF4-FFF2-40B4-BE49-F238E27FC236}">
                <a16:creationId xmlns:a16="http://schemas.microsoft.com/office/drawing/2014/main" id="{2CC9EBC7-813C-56AB-1B4F-D101685B5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629E65-F8A8-465B-2C96-C88FF5CF4F88}"/>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1926873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98CB1-620A-7F66-25FF-6BA9B11914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DEA27E-458A-DA83-D4A2-AC9308BCB7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A64CEB-A3B5-3DF1-A6A3-6B608B78E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32356E-0F11-8BA0-1CE9-8FF5A705AC1D}"/>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6" name="Footer Placeholder 5">
            <a:extLst>
              <a:ext uri="{FF2B5EF4-FFF2-40B4-BE49-F238E27FC236}">
                <a16:creationId xmlns:a16="http://schemas.microsoft.com/office/drawing/2014/main" id="{EF0BFB7C-7BF8-D014-9A28-B06A37534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703084-C9BE-8D52-0281-D045BB44AE87}"/>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1033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8F29A-5FE7-68F6-A4EC-B2B01801A6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7907BD-5C81-BB53-3D87-AAD9E21FEB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44F218-2DC6-B614-BDAD-9F071E0E24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C5BD33-97A0-B226-D03D-1CB1BAE7A9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3A3587-ABB7-C036-0918-12B988957C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34A55B-6364-E750-5F6A-AA174B98D00B}"/>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8" name="Footer Placeholder 7">
            <a:extLst>
              <a:ext uri="{FF2B5EF4-FFF2-40B4-BE49-F238E27FC236}">
                <a16:creationId xmlns:a16="http://schemas.microsoft.com/office/drawing/2014/main" id="{34C4112F-FF48-E8A3-DD75-CA12058944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453181-0B08-D91B-F8A2-0B2F5B3F6039}"/>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1608343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25FC-85B2-C59F-0023-4EAB73518A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D9BB8B-ED93-EFD2-877A-A1E4645F41F6}"/>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4" name="Footer Placeholder 3">
            <a:extLst>
              <a:ext uri="{FF2B5EF4-FFF2-40B4-BE49-F238E27FC236}">
                <a16:creationId xmlns:a16="http://schemas.microsoft.com/office/drawing/2014/main" id="{9EEEBBEB-3274-F051-24ED-6C279E206A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CB2CC1-FC26-7C29-1EF9-E5DAF118C532}"/>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1899341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A87221-40DF-B254-014C-6064FC68168F}"/>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3" name="Footer Placeholder 2">
            <a:extLst>
              <a:ext uri="{FF2B5EF4-FFF2-40B4-BE49-F238E27FC236}">
                <a16:creationId xmlns:a16="http://schemas.microsoft.com/office/drawing/2014/main" id="{E0675CC4-15C9-03A3-C00E-A42D144948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6C29B1-8BB2-6A6B-EB4C-A9D65BEB09D4}"/>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1248613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B467-6A11-F334-427D-E22DCE715B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4BBCDB-D512-1142-D8EF-3DE5EF5D70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49D87F-59E6-B059-D467-6A311EC78C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B726E6-755B-92C4-D6E4-6D1D6EB7B318}"/>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6" name="Footer Placeholder 5">
            <a:extLst>
              <a:ext uri="{FF2B5EF4-FFF2-40B4-BE49-F238E27FC236}">
                <a16:creationId xmlns:a16="http://schemas.microsoft.com/office/drawing/2014/main" id="{F3F18F86-81AE-4CFE-BBBD-0BDC4DE420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30FEF-0EC0-20F4-8EB2-2E3F8F2FC94B}"/>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995069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C9077-9256-21E1-0B7B-79320CFBDC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AA7BB4-190A-25CF-A156-A669049D63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0DE329-E939-D274-978E-170926F76D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581775-0D9F-2033-8EE3-EBC78BC23246}"/>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6" name="Footer Placeholder 5">
            <a:extLst>
              <a:ext uri="{FF2B5EF4-FFF2-40B4-BE49-F238E27FC236}">
                <a16:creationId xmlns:a16="http://schemas.microsoft.com/office/drawing/2014/main" id="{17207C39-985B-54AE-3769-645FA8D101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5FB39-DC81-6B44-7319-01CF1B27D5F0}"/>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2063612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4D41-2500-2E5C-2288-6BE886B288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A5B3BC-1C37-C67D-C808-67CE5C7B8A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D8EA1-8566-FB00-47E1-FC311D938F2F}"/>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5" name="Footer Placeholder 4">
            <a:extLst>
              <a:ext uri="{FF2B5EF4-FFF2-40B4-BE49-F238E27FC236}">
                <a16:creationId xmlns:a16="http://schemas.microsoft.com/office/drawing/2014/main" id="{33EAE053-908E-06A1-A181-6EA9BA9968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3F75B1-6C5A-3B29-B885-72B055FABE37}"/>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2642478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C91304-5035-8EA7-2E90-EC77AC38EB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66595E-7A79-B24B-65DC-8B95D1A8DC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358C42-47AC-6903-F607-2C03B414540C}"/>
              </a:ext>
            </a:extLst>
          </p:cNvPr>
          <p:cNvSpPr>
            <a:spLocks noGrp="1"/>
          </p:cNvSpPr>
          <p:nvPr>
            <p:ph type="dt" sz="half" idx="10"/>
          </p:nvPr>
        </p:nvSpPr>
        <p:spPr/>
        <p:txBody>
          <a:bodyPr/>
          <a:lstStyle/>
          <a:p>
            <a:fld id="{1C7CE9BF-C1FF-4E9B-97E6-64DC9D713536}" type="datetimeFigureOut">
              <a:rPr lang="en-US" smtClean="0"/>
              <a:t>5/1/2026</a:t>
            </a:fld>
            <a:endParaRPr lang="en-US"/>
          </a:p>
        </p:txBody>
      </p:sp>
      <p:sp>
        <p:nvSpPr>
          <p:cNvPr id="5" name="Footer Placeholder 4">
            <a:extLst>
              <a:ext uri="{FF2B5EF4-FFF2-40B4-BE49-F238E27FC236}">
                <a16:creationId xmlns:a16="http://schemas.microsoft.com/office/drawing/2014/main" id="{B0EB6995-43EC-238A-BBEB-C6B07C43C5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EB165-A31A-DD4B-D40C-606AECCFC34E}"/>
              </a:ext>
            </a:extLst>
          </p:cNvPr>
          <p:cNvSpPr>
            <a:spLocks noGrp="1"/>
          </p:cNvSpPr>
          <p:nvPr>
            <p:ph type="sldNum" sz="quarter" idx="12"/>
          </p:nvPr>
        </p:nvSpPr>
        <p:spPr/>
        <p:txBody>
          <a:bodyPr/>
          <a:lstStyle/>
          <a:p>
            <a:fld id="{2FD438EA-64AA-4ADE-A3AB-D3AB0A7C0E5A}" type="slidenum">
              <a:rPr lang="en-US" smtClean="0"/>
              <a:t>‹#›</a:t>
            </a:fld>
            <a:endParaRPr lang="en-US"/>
          </a:p>
        </p:txBody>
      </p:sp>
    </p:spTree>
    <p:extLst>
      <p:ext uri="{BB962C8B-B14F-4D97-AF65-F5344CB8AC3E}">
        <p14:creationId xmlns:p14="http://schemas.microsoft.com/office/powerpoint/2010/main" val="169321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70ADA6-0734-B067-AF29-E08B42765F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9BAA16-CA26-B566-E2A9-117A51F5E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7A82CD-C538-C082-32C7-5E105A330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7CE9BF-C1FF-4E9B-97E6-64DC9D713536}" type="datetimeFigureOut">
              <a:rPr lang="en-US" smtClean="0"/>
              <a:t>5/1/2026</a:t>
            </a:fld>
            <a:endParaRPr lang="en-US"/>
          </a:p>
        </p:txBody>
      </p:sp>
      <p:sp>
        <p:nvSpPr>
          <p:cNvPr id="5" name="Footer Placeholder 4">
            <a:extLst>
              <a:ext uri="{FF2B5EF4-FFF2-40B4-BE49-F238E27FC236}">
                <a16:creationId xmlns:a16="http://schemas.microsoft.com/office/drawing/2014/main" id="{7CE6291B-6194-83AE-28FF-5C4A87F14A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F6377A-8865-AD24-0532-0C19652210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D438EA-64AA-4ADE-A3AB-D3AB0A7C0E5A}" type="slidenum">
              <a:rPr lang="en-US" smtClean="0"/>
              <a:t>‹#›</a:t>
            </a:fld>
            <a:endParaRPr lang="en-US"/>
          </a:p>
        </p:txBody>
      </p:sp>
    </p:spTree>
    <p:extLst>
      <p:ext uri="{BB962C8B-B14F-4D97-AF65-F5344CB8AC3E}">
        <p14:creationId xmlns:p14="http://schemas.microsoft.com/office/powerpoint/2010/main" val="1712895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hemeOverride" Target="../theme/themeOverride1.xml"/><Relationship Id="rId5" Type="http://schemas.openxmlformats.org/officeDocument/2006/relationships/image" Target="../media/image4.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hat.openai.com/" TargetMode="External"/><Relationship Id="rId2" Type="http://schemas.openxmlformats.org/officeDocument/2006/relationships/hyperlink" Target="https://data.iowa.gov/Sales-Distribution/2014-Iowa-Liquor-Sales/3m8f-uw4f/about_dat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6255CA-1320-E4CB-5684-B5DC954D7862}"/>
              </a:ext>
            </a:extLst>
          </p:cNvPr>
          <p:cNvSpPr>
            <a:spLocks noGrp="1"/>
          </p:cNvSpPr>
          <p:nvPr>
            <p:ph type="ctrTitle"/>
          </p:nvPr>
        </p:nvSpPr>
        <p:spPr>
          <a:xfrm>
            <a:off x="1127208" y="857251"/>
            <a:ext cx="4747280" cy="3098061"/>
          </a:xfrm>
        </p:spPr>
        <p:txBody>
          <a:bodyPr anchor="b">
            <a:normAutofit/>
          </a:bodyPr>
          <a:lstStyle/>
          <a:p>
            <a:pPr algn="l"/>
            <a:r>
              <a:rPr lang="en-US" sz="4800">
                <a:solidFill>
                  <a:srgbClr val="FFFFFF"/>
                </a:solidFill>
              </a:rPr>
              <a:t>Constellation Brands</a:t>
            </a:r>
          </a:p>
        </p:txBody>
      </p:sp>
      <p:sp>
        <p:nvSpPr>
          <p:cNvPr id="22" name="Rectangle 21">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C44DC2AA-2A7F-FEC9-1B2C-1D3647D40038}"/>
              </a:ext>
            </a:extLst>
          </p:cNvPr>
          <p:cNvSpPr>
            <a:spLocks noGrp="1"/>
          </p:cNvSpPr>
          <p:nvPr>
            <p:ph type="subTitle" idx="1"/>
          </p:nvPr>
        </p:nvSpPr>
        <p:spPr>
          <a:xfrm>
            <a:off x="1127208" y="4756265"/>
            <a:ext cx="4393278" cy="1244483"/>
          </a:xfrm>
        </p:spPr>
        <p:txBody>
          <a:bodyPr anchor="t">
            <a:normAutofit/>
          </a:bodyPr>
          <a:lstStyle/>
          <a:p>
            <a:pPr algn="l"/>
            <a:r>
              <a:rPr lang="en-US" sz="1300">
                <a:solidFill>
                  <a:srgbClr val="FFFFFF"/>
                </a:solidFill>
              </a:rPr>
              <a:t>2014 Iowa Liquor Sales Analysis</a:t>
            </a:r>
          </a:p>
          <a:p>
            <a:pPr algn="l"/>
            <a:r>
              <a:rPr lang="en-US" sz="1300">
                <a:solidFill>
                  <a:srgbClr val="FFFFFF"/>
                </a:solidFill>
              </a:rPr>
              <a:t>Pham, Longley</a:t>
            </a:r>
          </a:p>
          <a:p>
            <a:pPr algn="l"/>
            <a:r>
              <a:rPr lang="en-US" sz="1300">
                <a:solidFill>
                  <a:srgbClr val="FFFFFF"/>
                </a:solidFill>
              </a:rPr>
              <a:t>Year Up United – Data Academy</a:t>
            </a:r>
          </a:p>
          <a:p>
            <a:pPr algn="l"/>
            <a:r>
              <a:rPr lang="en-US" sz="1300">
                <a:solidFill>
                  <a:srgbClr val="FFFFFF"/>
                </a:solidFill>
              </a:rPr>
              <a:t>Capstone 1</a:t>
            </a:r>
          </a:p>
        </p:txBody>
      </p:sp>
      <p:sp>
        <p:nvSpPr>
          <p:cNvPr id="24" name="Oval 23">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5214212-7631-C026-FD63-B5C279DCEF37}"/>
              </a:ext>
            </a:extLst>
          </p:cNvPr>
          <p:cNvPicPr>
            <a:picLocks noChangeAspect="1"/>
          </p:cNvPicPr>
          <p:nvPr/>
        </p:nvPicPr>
        <p:blipFill>
          <a:blip r:embed="rId3">
            <a:extLst>
              <a:ext uri="{28A0092B-C50C-407E-A947-70E740481C1C}">
                <a14:useLocalDpi xmlns:a14="http://schemas.microsoft.com/office/drawing/2010/main" val="0"/>
              </a:ext>
            </a:extLst>
          </a:blip>
          <a:srcRect t="7812" b="7812"/>
          <a:stretch/>
        </p:blipFill>
        <p:spPr>
          <a:xfrm>
            <a:off x="6915078" y="2298496"/>
            <a:ext cx="3707184" cy="2261002"/>
          </a:xfrm>
          <a:prstGeom prst="rect">
            <a:avLst/>
          </a:prstGeom>
        </p:spPr>
      </p:pic>
    </p:spTree>
    <p:extLst>
      <p:ext uri="{BB962C8B-B14F-4D97-AF65-F5344CB8AC3E}">
        <p14:creationId xmlns:p14="http://schemas.microsoft.com/office/powerpoint/2010/main" val="2720321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F32740-F662-BCD9-5E98-135BDC2BBE9F}"/>
              </a:ext>
            </a:extLst>
          </p:cNvPr>
          <p:cNvSpPr>
            <a:spLocks noGrp="1"/>
          </p:cNvSpPr>
          <p:nvPr>
            <p:ph type="title"/>
          </p:nvPr>
        </p:nvSpPr>
        <p:spPr>
          <a:xfrm>
            <a:off x="1136397" y="502020"/>
            <a:ext cx="5323715" cy="1642970"/>
          </a:xfrm>
        </p:spPr>
        <p:txBody>
          <a:bodyPr vert="horz" lIns="91440" tIns="45720" rIns="91440" bIns="45720" rtlCol="0" anchor="b">
            <a:normAutofit/>
          </a:bodyPr>
          <a:lstStyle/>
          <a:p>
            <a:r>
              <a:rPr lang="en-US" sz="4000" kern="1200">
                <a:solidFill>
                  <a:schemeClr val="tx1"/>
                </a:solidFill>
                <a:latin typeface="+mj-lt"/>
                <a:ea typeface="+mj-ea"/>
                <a:cs typeface="+mj-cs"/>
              </a:rPr>
              <a:t>Scenario</a:t>
            </a:r>
          </a:p>
        </p:txBody>
      </p:sp>
      <p:sp>
        <p:nvSpPr>
          <p:cNvPr id="3" name="Content Placeholder 2">
            <a:extLst>
              <a:ext uri="{FF2B5EF4-FFF2-40B4-BE49-F238E27FC236}">
                <a16:creationId xmlns:a16="http://schemas.microsoft.com/office/drawing/2014/main" id="{DEC6ED37-AF01-E906-5F3A-EEB9B5127614}"/>
              </a:ext>
            </a:extLst>
          </p:cNvPr>
          <p:cNvSpPr>
            <a:spLocks noGrp="1"/>
          </p:cNvSpPr>
          <p:nvPr>
            <p:ph sz="half" idx="1"/>
          </p:nvPr>
        </p:nvSpPr>
        <p:spPr>
          <a:xfrm>
            <a:off x="1144923" y="2405894"/>
            <a:ext cx="5315189" cy="3535083"/>
          </a:xfrm>
        </p:spPr>
        <p:txBody>
          <a:bodyPr vert="horz" lIns="91440" tIns="45720" rIns="91440" bIns="45720" rtlCol="0" anchor="t">
            <a:normAutofit/>
          </a:bodyPr>
          <a:lstStyle/>
          <a:p>
            <a:pPr marL="0"/>
            <a:r>
              <a:rPr lang="en-US" sz="2000" dirty="0"/>
              <a:t>You have been brought on as a data consultant by Constellation Brands to analyze sales performance using the Iowa Liquor Sales database.</a:t>
            </a:r>
          </a:p>
          <a:p>
            <a:pPr marL="0"/>
            <a:r>
              <a:rPr lang="en-US" sz="2000" dirty="0"/>
              <a:t>The company wants to better understand how it performed during that year across different markets to inform future strategy.</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a:extLst>
              <a:ext uri="{FF2B5EF4-FFF2-40B4-BE49-F238E27FC236}">
                <a16:creationId xmlns:a16="http://schemas.microsoft.com/office/drawing/2014/main" id="{61726302-CF36-FBBD-4B17-69282DF882E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075967" y="1359681"/>
            <a:ext cx="4170530" cy="4170530"/>
          </a:xfrm>
          <a:prstGeom prst="rect">
            <a:avLst/>
          </a:prstGeom>
        </p:spPr>
      </p:pic>
    </p:spTree>
    <p:extLst>
      <p:ext uri="{BB962C8B-B14F-4D97-AF65-F5344CB8AC3E}">
        <p14:creationId xmlns:p14="http://schemas.microsoft.com/office/powerpoint/2010/main" val="270797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1E1969-70DA-6CBA-2E14-DA01BA826045}"/>
              </a:ext>
            </a:extLst>
          </p:cNvPr>
          <p:cNvSpPr>
            <a:spLocks noGrp="1"/>
          </p:cNvSpPr>
          <p:nvPr>
            <p:ph type="title"/>
          </p:nvPr>
        </p:nvSpPr>
        <p:spPr>
          <a:xfrm>
            <a:off x="1136397" y="502020"/>
            <a:ext cx="5323715" cy="1642970"/>
          </a:xfrm>
        </p:spPr>
        <p:txBody>
          <a:bodyPr vert="horz" lIns="91440" tIns="45720" rIns="91440" bIns="45720" rtlCol="0" anchor="b">
            <a:normAutofit/>
          </a:bodyPr>
          <a:lstStyle/>
          <a:p>
            <a:r>
              <a:rPr lang="en-US" sz="4000" kern="1200">
                <a:solidFill>
                  <a:schemeClr val="tx1"/>
                </a:solidFill>
                <a:latin typeface="+mj-lt"/>
                <a:ea typeface="+mj-ea"/>
                <a:cs typeface="+mj-cs"/>
              </a:rPr>
              <a:t>Agenda</a:t>
            </a:r>
          </a:p>
        </p:txBody>
      </p:sp>
      <p:sp>
        <p:nvSpPr>
          <p:cNvPr id="3" name="Content Placeholder 2">
            <a:extLst>
              <a:ext uri="{FF2B5EF4-FFF2-40B4-BE49-F238E27FC236}">
                <a16:creationId xmlns:a16="http://schemas.microsoft.com/office/drawing/2014/main" id="{8358E2B4-AAFA-FF16-67E3-B6DF3AF954F3}"/>
              </a:ext>
            </a:extLst>
          </p:cNvPr>
          <p:cNvSpPr>
            <a:spLocks noGrp="1"/>
          </p:cNvSpPr>
          <p:nvPr>
            <p:ph sz="half" idx="1"/>
          </p:nvPr>
        </p:nvSpPr>
        <p:spPr>
          <a:xfrm>
            <a:off x="1144923" y="2405894"/>
            <a:ext cx="5315189" cy="3535083"/>
          </a:xfrm>
        </p:spPr>
        <p:txBody>
          <a:bodyPr vert="horz" lIns="91440" tIns="45720" rIns="91440" bIns="45720" rtlCol="0" anchor="t">
            <a:normAutofit/>
          </a:bodyPr>
          <a:lstStyle/>
          <a:p>
            <a:pPr marL="285750"/>
            <a:r>
              <a:rPr lang="en-US" sz="2000"/>
              <a:t>Overview</a:t>
            </a:r>
          </a:p>
          <a:p>
            <a:pPr marL="285750"/>
            <a:r>
              <a:rPr lang="en-US" sz="2000"/>
              <a:t>County Analysis</a:t>
            </a:r>
          </a:p>
          <a:p>
            <a:pPr marL="285750"/>
            <a:r>
              <a:rPr lang="en-US" sz="2000"/>
              <a:t>Black Velvet</a:t>
            </a:r>
          </a:p>
          <a:p>
            <a:pPr marL="285750"/>
            <a:r>
              <a:rPr lang="en-US" sz="2000"/>
              <a:t>Tequila Industry</a:t>
            </a:r>
          </a:p>
          <a:p>
            <a:pPr marL="285750"/>
            <a:r>
              <a:rPr lang="en-US" sz="2000"/>
              <a:t>Competitors</a:t>
            </a:r>
          </a:p>
          <a:p>
            <a:pPr marL="285750"/>
            <a:r>
              <a:rPr lang="en-US" sz="2000"/>
              <a:t>Key Takeaways</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a:extLst>
              <a:ext uri="{FF2B5EF4-FFF2-40B4-BE49-F238E27FC236}">
                <a16:creationId xmlns:a16="http://schemas.microsoft.com/office/drawing/2014/main" id="{ADF2BBCE-2767-728F-15CA-7A0CBCD9B09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75967" y="2053032"/>
            <a:ext cx="4170530" cy="2783828"/>
          </a:xfrm>
          <a:prstGeom prst="rect">
            <a:avLst/>
          </a:prstGeom>
        </p:spPr>
      </p:pic>
    </p:spTree>
    <p:extLst>
      <p:ext uri="{BB962C8B-B14F-4D97-AF65-F5344CB8AC3E}">
        <p14:creationId xmlns:p14="http://schemas.microsoft.com/office/powerpoint/2010/main" val="3119712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E218537-E472-8EB1-74F4-698C93711D74}"/>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Annual Snapshot</a:t>
            </a:r>
          </a:p>
        </p:txBody>
      </p:sp>
      <p:sp>
        <p:nvSpPr>
          <p:cNvPr id="3" name="Content Placeholder 2">
            <a:extLst>
              <a:ext uri="{FF2B5EF4-FFF2-40B4-BE49-F238E27FC236}">
                <a16:creationId xmlns:a16="http://schemas.microsoft.com/office/drawing/2014/main" id="{D4CDF3C9-C4DB-FA1A-52F3-3D152FAAFF19}"/>
              </a:ext>
            </a:extLst>
          </p:cNvPr>
          <p:cNvSpPr>
            <a:spLocks noGrp="1"/>
          </p:cNvSpPr>
          <p:nvPr>
            <p:ph idx="1"/>
          </p:nvPr>
        </p:nvSpPr>
        <p:spPr>
          <a:xfrm>
            <a:off x="6503158" y="649480"/>
            <a:ext cx="4862447" cy="5546047"/>
          </a:xfrm>
        </p:spPr>
        <p:txBody>
          <a:bodyPr anchor="ctr">
            <a:normAutofit/>
          </a:bodyPr>
          <a:lstStyle/>
          <a:p>
            <a:r>
              <a:rPr lang="en-US" sz="2000" dirty="0"/>
              <a:t>2014 Fiscal Year</a:t>
            </a:r>
          </a:p>
          <a:p>
            <a:pPr lvl="1"/>
            <a:r>
              <a:rPr lang="en-US" sz="1600" dirty="0"/>
              <a:t>Jan 1, 2014 – Dec 31, 2014</a:t>
            </a:r>
          </a:p>
          <a:p>
            <a:r>
              <a:rPr lang="en-US" sz="2000" dirty="0"/>
              <a:t>155,408 Constellation-related transactions</a:t>
            </a:r>
          </a:p>
          <a:p>
            <a:r>
              <a:rPr lang="en-US" sz="2000" dirty="0"/>
              <a:t>Spirits market dominant</a:t>
            </a:r>
          </a:p>
          <a:p>
            <a:pPr lvl="1"/>
            <a:r>
              <a:rPr lang="en-US" sz="2000" dirty="0"/>
              <a:t>100% coverage across 99 counties</a:t>
            </a:r>
          </a:p>
          <a:p>
            <a:r>
              <a:rPr lang="en-US" sz="2000" dirty="0"/>
              <a:t>Total Revenue: $23.49M</a:t>
            </a:r>
          </a:p>
        </p:txBody>
      </p:sp>
    </p:spTree>
    <p:extLst>
      <p:ext uri="{BB962C8B-B14F-4D97-AF65-F5344CB8AC3E}">
        <p14:creationId xmlns:p14="http://schemas.microsoft.com/office/powerpoint/2010/main" val="348400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DF5263-62CC-3990-2726-A93E0B44369F}"/>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a:solidFill>
                  <a:schemeClr val="tx1"/>
                </a:solidFill>
                <a:latin typeface="+mj-lt"/>
                <a:ea typeface="+mj-ea"/>
                <a:cs typeface="+mj-cs"/>
              </a:rPr>
              <a:t>Geographical Analysis</a:t>
            </a:r>
          </a:p>
        </p:txBody>
      </p:sp>
      <p:sp>
        <p:nvSpPr>
          <p:cNvPr id="4" name="Content Placeholder 3">
            <a:extLst>
              <a:ext uri="{FF2B5EF4-FFF2-40B4-BE49-F238E27FC236}">
                <a16:creationId xmlns:a16="http://schemas.microsoft.com/office/drawing/2014/main" id="{6CF8047B-50AD-0D8C-4276-AD89AAC27248}"/>
              </a:ext>
            </a:extLst>
          </p:cNvPr>
          <p:cNvSpPr>
            <a:spLocks noGrp="1"/>
          </p:cNvSpPr>
          <p:nvPr>
            <p:ph sz="half" idx="2"/>
          </p:nvPr>
        </p:nvSpPr>
        <p:spPr>
          <a:xfrm>
            <a:off x="1136397" y="2418408"/>
            <a:ext cx="4959603" cy="3522569"/>
          </a:xfrm>
        </p:spPr>
        <p:txBody>
          <a:bodyPr vert="horz" lIns="91440" tIns="45720" rIns="91440" bIns="45720" rtlCol="0" anchor="t">
            <a:normAutofit/>
          </a:bodyPr>
          <a:lstStyle/>
          <a:p>
            <a:r>
              <a:rPr lang="en-US" sz="2000"/>
              <a:t>Annual Revenue</a:t>
            </a:r>
          </a:p>
          <a:p>
            <a:r>
              <a:rPr lang="en-US" sz="2000"/>
              <a:t>Top 3 earners</a:t>
            </a:r>
          </a:p>
          <a:p>
            <a:pPr lvl="1"/>
            <a:r>
              <a:rPr lang="en-US" sz="2000"/>
              <a:t>Polk, Linn, Black Hawk</a:t>
            </a:r>
          </a:p>
          <a:p>
            <a:pPr lvl="1"/>
            <a:r>
              <a:rPr lang="en-US" sz="2000"/>
              <a:t>Over $1M in revenue</a:t>
            </a:r>
          </a:p>
          <a:p>
            <a:pPr lvl="1"/>
            <a:r>
              <a:rPr lang="en-US" sz="2000"/>
              <a:t>Polk: $3.73M</a:t>
            </a:r>
          </a:p>
          <a:p>
            <a:r>
              <a:rPr lang="en-US" sz="2000"/>
              <a:t>Top 3 Stragglers</a:t>
            </a:r>
          </a:p>
          <a:p>
            <a:pPr lvl="1"/>
            <a:r>
              <a:rPr lang="en-US" sz="2000"/>
              <a:t>Keokuk, Hancock, Mills</a:t>
            </a:r>
          </a:p>
          <a:p>
            <a:pPr lvl="1"/>
            <a:r>
              <a:rPr lang="en-US" sz="2000"/>
              <a:t>Keokuk: $22K</a:t>
            </a:r>
          </a:p>
        </p:txBody>
      </p:sp>
      <p:sp>
        <p:nvSpPr>
          <p:cNvPr id="16" name="Rectangle 1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5FB93635-4EE4-5B6B-34C2-CBDB04210800}"/>
              </a:ext>
            </a:extLst>
          </p:cNvPr>
          <p:cNvGrpSpPr/>
          <p:nvPr/>
        </p:nvGrpSpPr>
        <p:grpSpPr>
          <a:xfrm>
            <a:off x="6512442" y="1377279"/>
            <a:ext cx="5201023" cy="3689684"/>
            <a:chOff x="1032140" y="2485592"/>
            <a:chExt cx="4793719" cy="3400736"/>
          </a:xfrm>
        </p:grpSpPr>
        <p:pic>
          <p:nvPicPr>
            <p:cNvPr id="6" name="Content Placeholder 5">
              <a:extLst>
                <a:ext uri="{FF2B5EF4-FFF2-40B4-BE49-F238E27FC236}">
                  <a16:creationId xmlns:a16="http://schemas.microsoft.com/office/drawing/2014/main" id="{2E4F7789-BB88-F7C4-B006-B403476CC22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032140" y="2485592"/>
              <a:ext cx="4793719" cy="3031404"/>
            </a:xfrm>
            <a:prstGeom prst="rect">
              <a:avLst/>
            </a:prstGeom>
          </p:spPr>
        </p:pic>
        <p:sp>
          <p:nvSpPr>
            <p:cNvPr id="7" name="TextBox 6">
              <a:extLst>
                <a:ext uri="{FF2B5EF4-FFF2-40B4-BE49-F238E27FC236}">
                  <a16:creationId xmlns:a16="http://schemas.microsoft.com/office/drawing/2014/main" id="{3D8EF388-B032-EDB6-B7D8-1F716938F817}"/>
                </a:ext>
              </a:extLst>
            </p:cNvPr>
            <p:cNvSpPr txBox="1">
              <a:spLocks/>
            </p:cNvSpPr>
            <p:nvPr/>
          </p:nvSpPr>
          <p:spPr>
            <a:xfrm>
              <a:off x="1471636" y="5516996"/>
              <a:ext cx="3914726" cy="369332"/>
            </a:xfrm>
            <a:prstGeom prst="rect">
              <a:avLst/>
            </a:prstGeom>
            <a:noFill/>
          </p:spPr>
          <p:txBody>
            <a:bodyPr wrap="none" rtlCol="0">
              <a:spAutoFit/>
            </a:bodyPr>
            <a:lstStyle/>
            <a:p>
              <a:pPr defTabSz="987552">
                <a:spcAft>
                  <a:spcPts val="600"/>
                </a:spcAft>
              </a:pPr>
              <a:r>
                <a:rPr lang="en-US" sz="1944" kern="1200">
                  <a:solidFill>
                    <a:schemeClr val="tx1"/>
                  </a:solidFill>
                  <a:latin typeface="+mn-lt"/>
                  <a:ea typeface="+mn-ea"/>
                  <a:cs typeface="+mn-cs"/>
                </a:rPr>
                <a:t>Figure 1: Annual Revenue by Counties</a:t>
              </a:r>
              <a:endParaRPr lang="en-US"/>
            </a:p>
          </p:txBody>
        </p:sp>
      </p:grpSp>
    </p:spTree>
    <p:extLst>
      <p:ext uri="{BB962C8B-B14F-4D97-AF65-F5344CB8AC3E}">
        <p14:creationId xmlns:p14="http://schemas.microsoft.com/office/powerpoint/2010/main" val="4194034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15000"/>
            <a:lum/>
          </a:blip>
          <a:srcRect/>
          <a:stretch>
            <a:fillRect/>
          </a:stretch>
        </a:blipFill>
        <a:effectLst/>
      </p:bgPr>
    </p:bg>
    <p:spTree>
      <p:nvGrpSpPr>
        <p:cNvPr id="1" name="">
          <a:extLst>
            <a:ext uri="{FF2B5EF4-FFF2-40B4-BE49-F238E27FC236}">
              <a16:creationId xmlns:a16="http://schemas.microsoft.com/office/drawing/2014/main" id="{35B8D5A2-0804-0EAE-5003-B6D43B328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EE88B-1CC0-8772-B14F-BA93D6E9F3E0}"/>
              </a:ext>
            </a:extLst>
          </p:cNvPr>
          <p:cNvSpPr>
            <a:spLocks noGrp="1"/>
          </p:cNvSpPr>
          <p:nvPr>
            <p:ph type="title"/>
          </p:nvPr>
        </p:nvSpPr>
        <p:spPr/>
        <p:txBody>
          <a:bodyPr/>
          <a:lstStyle/>
          <a:p>
            <a:r>
              <a:rPr lang="en-US"/>
              <a:t>Geographical Analysis (Cont.)</a:t>
            </a:r>
            <a:endParaRPr lang="en-US" dirty="0"/>
          </a:p>
        </p:txBody>
      </p:sp>
      <p:sp>
        <p:nvSpPr>
          <p:cNvPr id="3" name="Content Placeholder 2">
            <a:extLst>
              <a:ext uri="{FF2B5EF4-FFF2-40B4-BE49-F238E27FC236}">
                <a16:creationId xmlns:a16="http://schemas.microsoft.com/office/drawing/2014/main" id="{63FEE377-8DA5-E1AF-C347-8A931990D51D}"/>
              </a:ext>
            </a:extLst>
          </p:cNvPr>
          <p:cNvSpPr>
            <a:spLocks noGrp="1"/>
          </p:cNvSpPr>
          <p:nvPr>
            <p:ph sz="half" idx="1"/>
          </p:nvPr>
        </p:nvSpPr>
        <p:spPr/>
        <p:txBody>
          <a:bodyPr/>
          <a:lstStyle/>
          <a:p>
            <a:r>
              <a:rPr lang="en-US" dirty="0"/>
              <a:t>Revenue per Capita</a:t>
            </a:r>
          </a:p>
          <a:p>
            <a:r>
              <a:rPr lang="en-US" dirty="0"/>
              <a:t>Top 3 earners</a:t>
            </a:r>
          </a:p>
          <a:p>
            <a:pPr lvl="1"/>
            <a:r>
              <a:rPr lang="en-US" dirty="0"/>
              <a:t>Dickinson, O’Brien, and Carroll</a:t>
            </a:r>
          </a:p>
          <a:p>
            <a:pPr lvl="1"/>
            <a:r>
              <a:rPr lang="en-US" dirty="0"/>
              <a:t>Dickinson: $19.78 per capita</a:t>
            </a:r>
          </a:p>
          <a:p>
            <a:r>
              <a:rPr lang="en-US" dirty="0"/>
              <a:t>Polk, Linn, Black Hawk dropped down</a:t>
            </a:r>
          </a:p>
          <a:p>
            <a:pPr lvl="1"/>
            <a:r>
              <a:rPr lang="en-US" dirty="0"/>
              <a:t>26</a:t>
            </a:r>
            <a:r>
              <a:rPr lang="en-US" baseline="30000" dirty="0"/>
              <a:t>th</a:t>
            </a:r>
            <a:r>
              <a:rPr lang="en-US" dirty="0"/>
              <a:t>, 23</a:t>
            </a:r>
            <a:r>
              <a:rPr lang="en-US" baseline="30000" dirty="0"/>
              <a:t>rd</a:t>
            </a:r>
            <a:r>
              <a:rPr lang="en-US" dirty="0"/>
              <a:t>, and 9</a:t>
            </a:r>
            <a:r>
              <a:rPr lang="en-US" baseline="30000" dirty="0"/>
              <a:t>th</a:t>
            </a:r>
            <a:r>
              <a:rPr lang="en-US" dirty="0"/>
              <a:t> respectively</a:t>
            </a:r>
          </a:p>
        </p:txBody>
      </p:sp>
      <p:pic>
        <p:nvPicPr>
          <p:cNvPr id="6" name="Content Placeholder 5">
            <a:extLst>
              <a:ext uri="{FF2B5EF4-FFF2-40B4-BE49-F238E27FC236}">
                <a16:creationId xmlns:a16="http://schemas.microsoft.com/office/drawing/2014/main" id="{8B15C579-7DA5-5D3D-8446-7C762EF1FB8F}"/>
              </a:ext>
            </a:extLst>
          </p:cNvPr>
          <p:cNvPicPr>
            <a:picLocks noGrp="1" noChangeAspect="1"/>
          </p:cNvPicPr>
          <p:nvPr>
            <p:ph sz="half" idx="2"/>
          </p:nvPr>
        </p:nvPicPr>
        <p:blipFill>
          <a:blip r:embed="rId5">
            <a:extLst>
              <a:ext uri="{28A0092B-C50C-407E-A947-70E740481C1C}">
                <a14:useLocalDpi xmlns:a14="http://schemas.microsoft.com/office/drawing/2010/main" val="0"/>
              </a:ext>
            </a:extLst>
          </a:blip>
          <a:stretch/>
        </p:blipFill>
        <p:spPr>
          <a:xfrm>
            <a:off x="6367526" y="1825625"/>
            <a:ext cx="4790948" cy="2845751"/>
          </a:xfrm>
          <a:prstGeom prst="rect">
            <a:avLst/>
          </a:prstGeom>
        </p:spPr>
      </p:pic>
      <p:sp>
        <p:nvSpPr>
          <p:cNvPr id="7" name="TextBox 6">
            <a:extLst>
              <a:ext uri="{FF2B5EF4-FFF2-40B4-BE49-F238E27FC236}">
                <a16:creationId xmlns:a16="http://schemas.microsoft.com/office/drawing/2014/main" id="{D370B5D0-42FE-E252-9B3E-259E61BF7AEC}"/>
              </a:ext>
            </a:extLst>
          </p:cNvPr>
          <p:cNvSpPr txBox="1">
            <a:spLocks/>
          </p:cNvSpPr>
          <p:nvPr/>
        </p:nvSpPr>
        <p:spPr>
          <a:xfrm>
            <a:off x="6373498" y="4624270"/>
            <a:ext cx="4779001" cy="369332"/>
          </a:xfrm>
          <a:prstGeom prst="rect">
            <a:avLst/>
          </a:prstGeom>
          <a:noFill/>
        </p:spPr>
        <p:txBody>
          <a:bodyPr wrap="none" rtlCol="0">
            <a:spAutoFit/>
          </a:bodyPr>
          <a:lstStyle/>
          <a:p>
            <a:r>
              <a:rPr lang="en-US" dirty="0"/>
              <a:t>Figure 2: Revenue Per Capita By Iowa Counties</a:t>
            </a:r>
          </a:p>
        </p:txBody>
      </p:sp>
    </p:spTree>
    <p:extLst>
      <p:ext uri="{BB962C8B-B14F-4D97-AF65-F5344CB8AC3E}">
        <p14:creationId xmlns:p14="http://schemas.microsoft.com/office/powerpoint/2010/main" val="90578223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E13B233-BC10-894D-2F30-A75D7F9CEB1D}"/>
              </a:ext>
            </a:extLst>
          </p:cNvPr>
          <p:cNvSpPr>
            <a:spLocks noGrp="1"/>
          </p:cNvSpPr>
          <p:nvPr>
            <p:ph type="title"/>
          </p:nvPr>
        </p:nvSpPr>
        <p:spPr/>
        <p:txBody>
          <a:bodyPr/>
          <a:lstStyle/>
          <a:p>
            <a:pPr algn="ctr"/>
            <a:r>
              <a:rPr lang="en-US" dirty="0"/>
              <a:t>Total Revenue vs. Revenue per Capita</a:t>
            </a:r>
          </a:p>
        </p:txBody>
      </p:sp>
      <p:sp>
        <p:nvSpPr>
          <p:cNvPr id="9" name="Text Placeholder 8">
            <a:extLst>
              <a:ext uri="{FF2B5EF4-FFF2-40B4-BE49-F238E27FC236}">
                <a16:creationId xmlns:a16="http://schemas.microsoft.com/office/drawing/2014/main" id="{6B164FD9-76FE-4383-3B73-64357026F37F}"/>
              </a:ext>
            </a:extLst>
          </p:cNvPr>
          <p:cNvSpPr>
            <a:spLocks noGrp="1"/>
          </p:cNvSpPr>
          <p:nvPr>
            <p:ph type="body" idx="1"/>
          </p:nvPr>
        </p:nvSpPr>
        <p:spPr/>
        <p:txBody>
          <a:bodyPr>
            <a:normAutofit/>
          </a:bodyPr>
          <a:lstStyle/>
          <a:p>
            <a:r>
              <a:rPr lang="en-US" sz="3200" dirty="0"/>
              <a:t>Efficiency</a:t>
            </a:r>
          </a:p>
        </p:txBody>
      </p:sp>
      <p:sp>
        <p:nvSpPr>
          <p:cNvPr id="10" name="Content Placeholder 9">
            <a:extLst>
              <a:ext uri="{FF2B5EF4-FFF2-40B4-BE49-F238E27FC236}">
                <a16:creationId xmlns:a16="http://schemas.microsoft.com/office/drawing/2014/main" id="{55FF1E0D-BE69-A382-D0F3-AE5D166F1676}"/>
              </a:ext>
            </a:extLst>
          </p:cNvPr>
          <p:cNvSpPr>
            <a:spLocks noGrp="1"/>
          </p:cNvSpPr>
          <p:nvPr>
            <p:ph sz="half" idx="2"/>
          </p:nvPr>
        </p:nvSpPr>
        <p:spPr>
          <a:xfrm>
            <a:off x="839788" y="2505075"/>
            <a:ext cx="5157787" cy="3249549"/>
          </a:xfrm>
        </p:spPr>
        <p:txBody>
          <a:bodyPr>
            <a:normAutofit/>
          </a:bodyPr>
          <a:lstStyle/>
          <a:p>
            <a:r>
              <a:rPr lang="en-US" dirty="0"/>
              <a:t>Polk, Linn, and Black Hawk</a:t>
            </a:r>
          </a:p>
          <a:p>
            <a:pPr lvl="1"/>
            <a:r>
              <a:rPr lang="en-US" dirty="0"/>
              <a:t>Balanced lifestyles</a:t>
            </a:r>
          </a:p>
          <a:p>
            <a:r>
              <a:rPr lang="en-US" dirty="0"/>
              <a:t>Larger market, larger wallets</a:t>
            </a:r>
          </a:p>
          <a:p>
            <a:r>
              <a:rPr lang="en-US" dirty="0"/>
              <a:t>Average, if not sub-average spending</a:t>
            </a:r>
          </a:p>
        </p:txBody>
      </p:sp>
      <p:sp>
        <p:nvSpPr>
          <p:cNvPr id="11" name="Text Placeholder 10">
            <a:extLst>
              <a:ext uri="{FF2B5EF4-FFF2-40B4-BE49-F238E27FC236}">
                <a16:creationId xmlns:a16="http://schemas.microsoft.com/office/drawing/2014/main" id="{E9F710E8-21A0-BDAF-5C0B-9CB6087BFBF6}"/>
              </a:ext>
            </a:extLst>
          </p:cNvPr>
          <p:cNvSpPr>
            <a:spLocks noGrp="1"/>
          </p:cNvSpPr>
          <p:nvPr>
            <p:ph type="body" sz="quarter" idx="3"/>
          </p:nvPr>
        </p:nvSpPr>
        <p:spPr/>
        <p:txBody>
          <a:bodyPr>
            <a:normAutofit/>
          </a:bodyPr>
          <a:lstStyle/>
          <a:p>
            <a:r>
              <a:rPr lang="en-US" sz="3200" dirty="0"/>
              <a:t>Scaling</a:t>
            </a:r>
          </a:p>
        </p:txBody>
      </p:sp>
      <p:sp>
        <p:nvSpPr>
          <p:cNvPr id="12" name="Content Placeholder 11">
            <a:extLst>
              <a:ext uri="{FF2B5EF4-FFF2-40B4-BE49-F238E27FC236}">
                <a16:creationId xmlns:a16="http://schemas.microsoft.com/office/drawing/2014/main" id="{03C769D8-24EB-B8CF-8F5B-69782EB63CD5}"/>
              </a:ext>
            </a:extLst>
          </p:cNvPr>
          <p:cNvSpPr>
            <a:spLocks noGrp="1"/>
          </p:cNvSpPr>
          <p:nvPr>
            <p:ph sz="quarter" idx="4"/>
          </p:nvPr>
        </p:nvSpPr>
        <p:spPr>
          <a:xfrm>
            <a:off x="6172200" y="2505075"/>
            <a:ext cx="5183188" cy="3249549"/>
          </a:xfrm>
        </p:spPr>
        <p:txBody>
          <a:bodyPr>
            <a:normAutofit/>
          </a:bodyPr>
          <a:lstStyle/>
          <a:p>
            <a:r>
              <a:rPr lang="en-US" dirty="0"/>
              <a:t>Dickinson, O’Brien, and Carroll</a:t>
            </a:r>
          </a:p>
          <a:p>
            <a:pPr lvl="1"/>
            <a:r>
              <a:rPr lang="en-US" dirty="0"/>
              <a:t>Tourist, retail, breathtaking scenery</a:t>
            </a:r>
          </a:p>
          <a:p>
            <a:r>
              <a:rPr lang="en-US" dirty="0"/>
              <a:t>Big spenders</a:t>
            </a:r>
          </a:p>
          <a:p>
            <a:r>
              <a:rPr lang="en-US" dirty="0"/>
              <a:t>Volatile, low proportionate population</a:t>
            </a:r>
            <a:endParaRPr lang="en-US" sz="2400" dirty="0"/>
          </a:p>
        </p:txBody>
      </p:sp>
      <p:sp>
        <p:nvSpPr>
          <p:cNvPr id="13" name="Content Placeholder 11">
            <a:extLst>
              <a:ext uri="{FF2B5EF4-FFF2-40B4-BE49-F238E27FC236}">
                <a16:creationId xmlns:a16="http://schemas.microsoft.com/office/drawing/2014/main" id="{79FA915E-535A-2E64-2413-9A6BB5906B21}"/>
              </a:ext>
            </a:extLst>
          </p:cNvPr>
          <p:cNvSpPr txBox="1">
            <a:spLocks/>
          </p:cNvSpPr>
          <p:nvPr/>
        </p:nvSpPr>
        <p:spPr>
          <a:xfrm>
            <a:off x="838200" y="5754624"/>
            <a:ext cx="10515600" cy="936690"/>
          </a:xfrm>
          <a:prstGeom prst="rect">
            <a:avLst/>
          </a:prstGeom>
        </p:spPr>
        <p:txBody>
          <a:bodyPr vert="horz"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rgbClr val="FF0000"/>
                </a:solidFill>
              </a:rPr>
              <a:t>Larger market </a:t>
            </a:r>
            <a:r>
              <a:rPr lang="en-US" dirty="0">
                <a:solidFill>
                  <a:schemeClr val="tx2">
                    <a:lumMod val="75000"/>
                    <a:lumOff val="25000"/>
                  </a:schemeClr>
                </a:solidFill>
              </a:rPr>
              <a:t>*</a:t>
            </a:r>
            <a:r>
              <a:rPr lang="en-US" dirty="0"/>
              <a:t> </a:t>
            </a:r>
            <a:r>
              <a:rPr lang="en-US" dirty="0">
                <a:solidFill>
                  <a:srgbClr val="FF0000"/>
                </a:solidFill>
              </a:rPr>
              <a:t>Big Spenders</a:t>
            </a:r>
            <a:r>
              <a:rPr lang="en-US" dirty="0"/>
              <a:t> = </a:t>
            </a:r>
            <a:r>
              <a:rPr lang="en-US" sz="5700" b="1" dirty="0">
                <a:solidFill>
                  <a:schemeClr val="accent6"/>
                </a:solidFill>
              </a:rPr>
              <a:t>Big Money</a:t>
            </a:r>
          </a:p>
        </p:txBody>
      </p:sp>
    </p:spTree>
    <p:extLst>
      <p:ext uri="{BB962C8B-B14F-4D97-AF65-F5344CB8AC3E}">
        <p14:creationId xmlns:p14="http://schemas.microsoft.com/office/powerpoint/2010/main" val="169366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01095486-F521-F560-974B-1F07E15787F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So What?</a:t>
            </a:r>
          </a:p>
        </p:txBody>
      </p:sp>
      <p:sp>
        <p:nvSpPr>
          <p:cNvPr id="13" name="TextBox 12">
            <a:extLst>
              <a:ext uri="{FF2B5EF4-FFF2-40B4-BE49-F238E27FC236}">
                <a16:creationId xmlns:a16="http://schemas.microsoft.com/office/drawing/2014/main" id="{17A05547-ABD2-3935-EED5-C5CBCD757B9D}"/>
              </a:ext>
            </a:extLst>
          </p:cNvPr>
          <p:cNvSpPr txBox="1">
            <a:spLocks/>
          </p:cNvSpPr>
          <p:nvPr/>
        </p:nvSpPr>
        <p:spPr>
          <a:xfrm>
            <a:off x="8572499" y="390832"/>
            <a:ext cx="3233585" cy="873612"/>
          </a:xfrm>
          <a:prstGeom prst="rect">
            <a:avLst/>
          </a:prstGeom>
        </p:spPr>
        <p:txBody>
          <a:bodyPr vert="horz" lIns="91440" tIns="45720" rIns="91440" bIns="45720" rtlCol="0" anchor="ctr">
            <a:normAutofit/>
          </a:bodyPr>
          <a:lstStyle/>
          <a:p>
            <a:pPr>
              <a:lnSpc>
                <a:spcPct val="90000"/>
              </a:lnSpc>
              <a:spcBef>
                <a:spcPts val="1000"/>
              </a:spcBef>
            </a:pPr>
            <a:r>
              <a:rPr lang="en-US" sz="1700" kern="1200">
                <a:solidFill>
                  <a:srgbClr val="FFFFFF"/>
                </a:solidFill>
                <a:latin typeface="+mn-lt"/>
                <a:ea typeface="+mn-ea"/>
                <a:cs typeface="+mn-cs"/>
              </a:rPr>
              <a:t>Figure 3: Revenue per Capita vs Total Revenue: Weak positive correlation</a:t>
            </a:r>
          </a:p>
        </p:txBody>
      </p:sp>
      <p:pic>
        <p:nvPicPr>
          <p:cNvPr id="12" name="Content Placeholder 11">
            <a:extLst>
              <a:ext uri="{FF2B5EF4-FFF2-40B4-BE49-F238E27FC236}">
                <a16:creationId xmlns:a16="http://schemas.microsoft.com/office/drawing/2014/main" id="{C2C8AC4A-ABAF-9011-EFB2-7A38F8683A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5870" y="1966293"/>
            <a:ext cx="7420259" cy="4452160"/>
          </a:xfrm>
          <a:prstGeom prst="rect">
            <a:avLst/>
          </a:prstGeom>
        </p:spPr>
      </p:pic>
    </p:spTree>
    <p:extLst>
      <p:ext uri="{BB962C8B-B14F-4D97-AF65-F5344CB8AC3E}">
        <p14:creationId xmlns:p14="http://schemas.microsoft.com/office/powerpoint/2010/main" val="1928695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a:extLst>
            <a:ext uri="{FF2B5EF4-FFF2-40B4-BE49-F238E27FC236}">
              <a16:creationId xmlns:a16="http://schemas.microsoft.com/office/drawing/2014/main" id="{4E97C058-1739-8C25-78CF-CAA18FD6B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B0228-75D9-D38D-AB31-304ED08031F5}"/>
              </a:ext>
            </a:extLst>
          </p:cNvPr>
          <p:cNvSpPr>
            <a:spLocks noGrp="1"/>
          </p:cNvSpPr>
          <p:nvPr>
            <p:ph type="title"/>
          </p:nvPr>
        </p:nvSpPr>
        <p:spPr/>
        <p:txBody>
          <a:bodyPr/>
          <a:lstStyle/>
          <a:p>
            <a:r>
              <a:rPr lang="en-US" dirty="0"/>
              <a:t>Product Performance</a:t>
            </a:r>
          </a:p>
        </p:txBody>
      </p:sp>
      <p:sp>
        <p:nvSpPr>
          <p:cNvPr id="5" name="Text Placeholder 4">
            <a:extLst>
              <a:ext uri="{FF2B5EF4-FFF2-40B4-BE49-F238E27FC236}">
                <a16:creationId xmlns:a16="http://schemas.microsoft.com/office/drawing/2014/main" id="{46C2FA9A-8EE2-9316-A6FC-DFABB436CD96}"/>
              </a:ext>
            </a:extLst>
          </p:cNvPr>
          <p:cNvSpPr>
            <a:spLocks noGrp="1"/>
          </p:cNvSpPr>
          <p:nvPr>
            <p:ph type="body" idx="1"/>
          </p:nvPr>
        </p:nvSpPr>
        <p:spPr/>
        <p:txBody>
          <a:bodyPr>
            <a:normAutofit/>
          </a:bodyPr>
          <a:lstStyle/>
          <a:p>
            <a:r>
              <a:rPr lang="en-US" sz="3200" dirty="0"/>
              <a:t>Best</a:t>
            </a:r>
          </a:p>
        </p:txBody>
      </p:sp>
      <p:sp>
        <p:nvSpPr>
          <p:cNvPr id="3" name="Content Placeholder 2">
            <a:extLst>
              <a:ext uri="{FF2B5EF4-FFF2-40B4-BE49-F238E27FC236}">
                <a16:creationId xmlns:a16="http://schemas.microsoft.com/office/drawing/2014/main" id="{19D3E9C4-35D5-66B4-CB4B-4384A3D28900}"/>
              </a:ext>
            </a:extLst>
          </p:cNvPr>
          <p:cNvSpPr>
            <a:spLocks noGrp="1"/>
          </p:cNvSpPr>
          <p:nvPr>
            <p:ph sz="half" idx="2"/>
          </p:nvPr>
        </p:nvSpPr>
        <p:spPr/>
        <p:txBody>
          <a:bodyPr/>
          <a:lstStyle/>
          <a:p>
            <a:r>
              <a:rPr lang="en-US" dirty="0"/>
              <a:t>Product: </a:t>
            </a:r>
            <a:r>
              <a:rPr lang="en-US" b="1" dirty="0"/>
              <a:t>Black Velvet</a:t>
            </a:r>
          </a:p>
          <a:p>
            <a:r>
              <a:rPr lang="en-US" dirty="0"/>
              <a:t>Series: Black Velvet</a:t>
            </a:r>
          </a:p>
          <a:p>
            <a:r>
              <a:rPr lang="en-US" dirty="0"/>
              <a:t>Category: </a:t>
            </a:r>
            <a:r>
              <a:rPr lang="en-US" b="1" dirty="0"/>
              <a:t>Whiskies</a:t>
            </a:r>
          </a:p>
          <a:p>
            <a:pPr lvl="1"/>
            <a:r>
              <a:rPr lang="en-US" dirty="0"/>
              <a:t>Canadian Whiskies</a:t>
            </a:r>
          </a:p>
        </p:txBody>
      </p:sp>
      <p:sp>
        <p:nvSpPr>
          <p:cNvPr id="6" name="Text Placeholder 5">
            <a:extLst>
              <a:ext uri="{FF2B5EF4-FFF2-40B4-BE49-F238E27FC236}">
                <a16:creationId xmlns:a16="http://schemas.microsoft.com/office/drawing/2014/main" id="{094B69B4-C269-592A-185B-67C7D4AE498E}"/>
              </a:ext>
            </a:extLst>
          </p:cNvPr>
          <p:cNvSpPr>
            <a:spLocks noGrp="1"/>
          </p:cNvSpPr>
          <p:nvPr>
            <p:ph type="body" sz="quarter" idx="3"/>
          </p:nvPr>
        </p:nvSpPr>
        <p:spPr/>
        <p:txBody>
          <a:bodyPr>
            <a:normAutofit/>
          </a:bodyPr>
          <a:lstStyle/>
          <a:p>
            <a:r>
              <a:rPr lang="en-US" sz="3200" dirty="0"/>
              <a:t>Worst</a:t>
            </a:r>
          </a:p>
        </p:txBody>
      </p:sp>
      <p:sp>
        <p:nvSpPr>
          <p:cNvPr id="7" name="Content Placeholder 6">
            <a:extLst>
              <a:ext uri="{FF2B5EF4-FFF2-40B4-BE49-F238E27FC236}">
                <a16:creationId xmlns:a16="http://schemas.microsoft.com/office/drawing/2014/main" id="{06FBBFEA-2AFE-FED3-0006-8103B758DDEC}"/>
              </a:ext>
            </a:extLst>
          </p:cNvPr>
          <p:cNvSpPr>
            <a:spLocks noGrp="1"/>
          </p:cNvSpPr>
          <p:nvPr>
            <p:ph sz="quarter" idx="4"/>
          </p:nvPr>
        </p:nvSpPr>
        <p:spPr/>
        <p:txBody>
          <a:bodyPr/>
          <a:lstStyle/>
          <a:p>
            <a:r>
              <a:rPr lang="en-US" dirty="0"/>
              <a:t>Product: </a:t>
            </a:r>
            <a:r>
              <a:rPr lang="en-US" b="1" dirty="0"/>
              <a:t>Canadian Mac Naughton Whiskey</a:t>
            </a:r>
          </a:p>
          <a:p>
            <a:r>
              <a:rPr lang="en-US" dirty="0"/>
              <a:t>Series: Canadian Mac Naughton Whiskey</a:t>
            </a:r>
          </a:p>
          <a:p>
            <a:r>
              <a:rPr lang="en-US" dirty="0"/>
              <a:t>Category: </a:t>
            </a:r>
            <a:r>
              <a:rPr lang="en-US" b="1" dirty="0"/>
              <a:t>Tequila</a:t>
            </a:r>
          </a:p>
        </p:txBody>
      </p:sp>
    </p:spTree>
    <p:extLst>
      <p:ext uri="{BB962C8B-B14F-4D97-AF65-F5344CB8AC3E}">
        <p14:creationId xmlns:p14="http://schemas.microsoft.com/office/powerpoint/2010/main" val="2996620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F27DC5E-5F05-C6B5-1CA9-64C6A8CE52DD}"/>
              </a:ext>
            </a:extLst>
          </p:cNvPr>
          <p:cNvSpPr>
            <a:spLocks noGrp="1"/>
          </p:cNvSpPr>
          <p:nvPr>
            <p:ph type="title"/>
          </p:nvPr>
        </p:nvSpPr>
        <p:spPr/>
        <p:txBody>
          <a:bodyPr/>
          <a:lstStyle/>
          <a:p>
            <a:r>
              <a:rPr lang="en-US" dirty="0"/>
              <a:t>Product Performance (Cont.)</a:t>
            </a:r>
          </a:p>
        </p:txBody>
      </p:sp>
      <p:pic>
        <p:nvPicPr>
          <p:cNvPr id="11" name="Content Placeholder 10">
            <a:extLst>
              <a:ext uri="{FF2B5EF4-FFF2-40B4-BE49-F238E27FC236}">
                <a16:creationId xmlns:a16="http://schemas.microsoft.com/office/drawing/2014/main" id="{0BC4356D-58C3-BE7F-97CB-C3B6D71A63F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060273" y="1825625"/>
            <a:ext cx="4737454" cy="4351338"/>
          </a:xfrm>
          <a:prstGeom prst="rect">
            <a:avLst/>
          </a:prstGeom>
        </p:spPr>
      </p:pic>
      <p:pic>
        <p:nvPicPr>
          <p:cNvPr id="13" name="Content Placeholder 12">
            <a:extLst>
              <a:ext uri="{FF2B5EF4-FFF2-40B4-BE49-F238E27FC236}">
                <a16:creationId xmlns:a16="http://schemas.microsoft.com/office/drawing/2014/main" id="{E0F87FD3-A5FF-2781-59FA-B8656EA66E46}"/>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422715" y="1825625"/>
            <a:ext cx="4680569" cy="4351338"/>
          </a:xfrm>
          <a:prstGeom prst="rect">
            <a:avLst/>
          </a:prstGeom>
        </p:spPr>
      </p:pic>
      <p:sp>
        <p:nvSpPr>
          <p:cNvPr id="14" name="TextBox 13">
            <a:extLst>
              <a:ext uri="{FF2B5EF4-FFF2-40B4-BE49-F238E27FC236}">
                <a16:creationId xmlns:a16="http://schemas.microsoft.com/office/drawing/2014/main" id="{B412C438-7430-8D86-CE15-08A5F68DE490}"/>
              </a:ext>
            </a:extLst>
          </p:cNvPr>
          <p:cNvSpPr txBox="1">
            <a:spLocks/>
          </p:cNvSpPr>
          <p:nvPr/>
        </p:nvSpPr>
        <p:spPr>
          <a:xfrm>
            <a:off x="1474750" y="6176963"/>
            <a:ext cx="3908506" cy="369332"/>
          </a:xfrm>
          <a:prstGeom prst="rect">
            <a:avLst/>
          </a:prstGeom>
          <a:noFill/>
        </p:spPr>
        <p:txBody>
          <a:bodyPr wrap="none" rtlCol="0">
            <a:spAutoFit/>
          </a:bodyPr>
          <a:lstStyle/>
          <a:p>
            <a:pPr algn="ctr"/>
            <a:r>
              <a:rPr lang="en-US" dirty="0"/>
              <a:t>Figure 4: Annual Revenue by Category</a:t>
            </a:r>
          </a:p>
        </p:txBody>
      </p:sp>
      <p:sp>
        <p:nvSpPr>
          <p:cNvPr id="15" name="TextBox 14">
            <a:extLst>
              <a:ext uri="{FF2B5EF4-FFF2-40B4-BE49-F238E27FC236}">
                <a16:creationId xmlns:a16="http://schemas.microsoft.com/office/drawing/2014/main" id="{3BE0FE52-208D-26EE-5558-0916DD331DC0}"/>
              </a:ext>
            </a:extLst>
          </p:cNvPr>
          <p:cNvSpPr txBox="1">
            <a:spLocks/>
          </p:cNvSpPr>
          <p:nvPr/>
        </p:nvSpPr>
        <p:spPr>
          <a:xfrm>
            <a:off x="6949908" y="6176963"/>
            <a:ext cx="3626185" cy="369332"/>
          </a:xfrm>
          <a:prstGeom prst="rect">
            <a:avLst/>
          </a:prstGeom>
          <a:noFill/>
        </p:spPr>
        <p:txBody>
          <a:bodyPr wrap="none" rtlCol="0">
            <a:spAutoFit/>
          </a:bodyPr>
          <a:lstStyle/>
          <a:p>
            <a:pPr algn="ctr"/>
            <a:r>
              <a:rPr lang="en-US" dirty="0"/>
              <a:t>Figure 5: Annual Revenue by Series</a:t>
            </a:r>
          </a:p>
        </p:txBody>
      </p:sp>
    </p:spTree>
    <p:extLst>
      <p:ext uri="{BB962C8B-B14F-4D97-AF65-F5344CB8AC3E}">
        <p14:creationId xmlns:p14="http://schemas.microsoft.com/office/powerpoint/2010/main" val="920226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36F8D8-9E85-FEE4-7A37-E3799247A7B5}"/>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1C1A9D-2042-8FBB-DEDE-D181A6DE87DC}"/>
              </a:ext>
            </a:extLst>
          </p:cNvPr>
          <p:cNvSpPr>
            <a:spLocks noGrp="1"/>
          </p:cNvSpPr>
          <p:nvPr>
            <p:ph type="title"/>
          </p:nvPr>
        </p:nvSpPr>
        <p:spPr>
          <a:xfrm>
            <a:off x="1136397" y="502020"/>
            <a:ext cx="5323715" cy="1642970"/>
          </a:xfrm>
        </p:spPr>
        <p:txBody>
          <a:bodyPr vert="horz" lIns="91440" tIns="45720" rIns="91440" bIns="45720" rtlCol="0" anchor="b">
            <a:normAutofit/>
          </a:bodyPr>
          <a:lstStyle/>
          <a:p>
            <a:r>
              <a:rPr lang="en-US" sz="4000" kern="1200">
                <a:solidFill>
                  <a:schemeClr val="tx1"/>
                </a:solidFill>
                <a:latin typeface="+mj-lt"/>
                <a:ea typeface="+mj-ea"/>
                <a:cs typeface="+mj-cs"/>
              </a:rPr>
              <a:t>Black Velvet: The King of the Bottom Shelf</a:t>
            </a:r>
          </a:p>
        </p:txBody>
      </p:sp>
      <p:sp>
        <p:nvSpPr>
          <p:cNvPr id="3" name="Content Placeholder 2">
            <a:extLst>
              <a:ext uri="{FF2B5EF4-FFF2-40B4-BE49-F238E27FC236}">
                <a16:creationId xmlns:a16="http://schemas.microsoft.com/office/drawing/2014/main" id="{0395F842-E000-BE3D-C22F-45DD9C956619}"/>
              </a:ext>
            </a:extLst>
          </p:cNvPr>
          <p:cNvSpPr>
            <a:spLocks noGrp="1"/>
          </p:cNvSpPr>
          <p:nvPr>
            <p:ph sz="half" idx="1"/>
          </p:nvPr>
        </p:nvSpPr>
        <p:spPr>
          <a:xfrm>
            <a:off x="1144923" y="2405894"/>
            <a:ext cx="5315189" cy="3535083"/>
          </a:xfrm>
        </p:spPr>
        <p:txBody>
          <a:bodyPr vert="horz" lIns="91440" tIns="45720" rIns="91440" bIns="45720" rtlCol="0" anchor="t">
            <a:normAutofit/>
          </a:bodyPr>
          <a:lstStyle/>
          <a:p>
            <a:r>
              <a:rPr lang="en-US" sz="2000"/>
              <a:t>$19.7M out of $19.77M in Whiskey sales</a:t>
            </a:r>
          </a:p>
          <a:p>
            <a:pPr lvl="1"/>
            <a:r>
              <a:rPr lang="en-US" sz="2000"/>
              <a:t>Controls 16% of overall market</a:t>
            </a:r>
          </a:p>
          <a:p>
            <a:pPr lvl="1"/>
            <a:r>
              <a:rPr lang="en-US" sz="2000"/>
              <a:t>#1 among all whiskey brands</a:t>
            </a:r>
          </a:p>
          <a:p>
            <a:r>
              <a:rPr lang="en-US" sz="2000"/>
              <a:t>Why?</a:t>
            </a:r>
          </a:p>
          <a:p>
            <a:pPr lvl="1"/>
            <a:r>
              <a:rPr lang="en-US" sz="2000"/>
              <a:t>Smooth and easy to drink</a:t>
            </a:r>
          </a:p>
          <a:p>
            <a:pPr lvl="1"/>
            <a:r>
              <a:rPr lang="en-US" sz="2000"/>
              <a:t>Cheap and widely available</a:t>
            </a:r>
          </a:p>
          <a:p>
            <a:pPr lvl="1"/>
            <a:r>
              <a:rPr lang="en-US" sz="2000"/>
              <a:t>Designed for casual drinkers</a:t>
            </a:r>
          </a:p>
          <a:p>
            <a:pPr lvl="1"/>
            <a:r>
              <a:rPr lang="en-US" sz="2000"/>
              <a:t>Sells on brand recognition and loyalty</a:t>
            </a:r>
          </a:p>
        </p:txBody>
      </p:sp>
      <p:sp>
        <p:nvSpPr>
          <p:cNvPr id="24" name="Rectangle 23">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Content Placeholder 5">
            <a:extLst>
              <a:ext uri="{FF2B5EF4-FFF2-40B4-BE49-F238E27FC236}">
                <a16:creationId xmlns:a16="http://schemas.microsoft.com/office/drawing/2014/main" id="{0C76034A-4EB3-CB9E-6CE5-D3F21AF80C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205964" y="664306"/>
            <a:ext cx="1927257" cy="5071731"/>
          </a:xfrm>
          <a:prstGeom prst="rect">
            <a:avLst/>
          </a:prstGeom>
        </p:spPr>
      </p:pic>
    </p:spTree>
    <p:extLst>
      <p:ext uri="{BB962C8B-B14F-4D97-AF65-F5344CB8AC3E}">
        <p14:creationId xmlns:p14="http://schemas.microsoft.com/office/powerpoint/2010/main" val="3150154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t="-2000" b="-2000"/>
          </a:stretch>
        </a:blipFill>
        <a:effectLst/>
      </p:bgPr>
    </p:bg>
    <p:spTree>
      <p:nvGrpSpPr>
        <p:cNvPr id="1" name="">
          <a:extLst>
            <a:ext uri="{FF2B5EF4-FFF2-40B4-BE49-F238E27FC236}">
              <a16:creationId xmlns:a16="http://schemas.microsoft.com/office/drawing/2014/main" id="{0BAA6A4C-7A5C-7A0B-F7C6-0CCF31214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28EA6-2CCD-7FC7-6EB6-4F0EB72E511F}"/>
              </a:ext>
            </a:extLst>
          </p:cNvPr>
          <p:cNvSpPr>
            <a:spLocks noGrp="1"/>
          </p:cNvSpPr>
          <p:nvPr>
            <p:ph type="title"/>
          </p:nvPr>
        </p:nvSpPr>
        <p:spPr/>
        <p:txBody>
          <a:bodyPr/>
          <a:lstStyle/>
          <a:p>
            <a:r>
              <a:rPr lang="en-US" dirty="0"/>
              <a:t>Tequila Market</a:t>
            </a:r>
          </a:p>
        </p:txBody>
      </p:sp>
      <p:sp>
        <p:nvSpPr>
          <p:cNvPr id="3" name="Content Placeholder 2">
            <a:extLst>
              <a:ext uri="{FF2B5EF4-FFF2-40B4-BE49-F238E27FC236}">
                <a16:creationId xmlns:a16="http://schemas.microsoft.com/office/drawing/2014/main" id="{8134932C-0E57-C49F-2D12-9BB65C82AE82}"/>
              </a:ext>
            </a:extLst>
          </p:cNvPr>
          <p:cNvSpPr>
            <a:spLocks noGrp="1"/>
          </p:cNvSpPr>
          <p:nvPr>
            <p:ph idx="1"/>
          </p:nvPr>
        </p:nvSpPr>
        <p:spPr/>
        <p:txBody>
          <a:bodyPr/>
          <a:lstStyle/>
          <a:p>
            <a:r>
              <a:rPr lang="en-US" dirty="0"/>
              <a:t>Only one transaction, lowest performing market</a:t>
            </a:r>
          </a:p>
          <a:p>
            <a:pPr lvl="1"/>
            <a:r>
              <a:rPr lang="en-US" dirty="0"/>
              <a:t>$900 in sales</a:t>
            </a:r>
          </a:p>
          <a:p>
            <a:r>
              <a:rPr lang="en-US" dirty="0"/>
              <a:t>No brand recognition nor loyalty</a:t>
            </a:r>
          </a:p>
          <a:p>
            <a:pPr lvl="1"/>
            <a:r>
              <a:rPr lang="en-US" dirty="0"/>
              <a:t>Need to tie a “premium” reputation</a:t>
            </a:r>
          </a:p>
          <a:p>
            <a:r>
              <a:rPr lang="en-US" dirty="0"/>
              <a:t>Expensive, or potential </a:t>
            </a:r>
          </a:p>
        </p:txBody>
      </p:sp>
    </p:spTree>
    <p:extLst>
      <p:ext uri="{BB962C8B-B14F-4D97-AF65-F5344CB8AC3E}">
        <p14:creationId xmlns:p14="http://schemas.microsoft.com/office/powerpoint/2010/main" val="343516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F39791-A5E4-7EBE-160C-71955643138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8D9A12F-D812-A8BC-4584-8F8DA3CC2C85}"/>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Other Market Mentions</a:t>
            </a:r>
          </a:p>
        </p:txBody>
      </p:sp>
      <p:pic>
        <p:nvPicPr>
          <p:cNvPr id="10" name="Content Placeholder 9">
            <a:extLst>
              <a:ext uri="{FF2B5EF4-FFF2-40B4-BE49-F238E27FC236}">
                <a16:creationId xmlns:a16="http://schemas.microsoft.com/office/drawing/2014/main" id="{2F9F0055-26EE-E73D-8645-704D6F5604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2428" y="1514177"/>
            <a:ext cx="7225748" cy="3829645"/>
          </a:xfrm>
          <a:prstGeom prst="rect">
            <a:avLst/>
          </a:prstGeom>
        </p:spPr>
      </p:pic>
    </p:spTree>
    <p:extLst>
      <p:ext uri="{BB962C8B-B14F-4D97-AF65-F5344CB8AC3E}">
        <p14:creationId xmlns:p14="http://schemas.microsoft.com/office/powerpoint/2010/main" val="1868810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0D7010-AD3B-60EB-8682-D5B530D91CE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8FB63FC-4E4D-1766-C67C-200AAB54364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Other Market Mentions</a:t>
            </a:r>
          </a:p>
        </p:txBody>
      </p:sp>
      <p:pic>
        <p:nvPicPr>
          <p:cNvPr id="10" name="Content Placeholder 9">
            <a:extLst>
              <a:ext uri="{FF2B5EF4-FFF2-40B4-BE49-F238E27FC236}">
                <a16:creationId xmlns:a16="http://schemas.microsoft.com/office/drawing/2014/main" id="{A5E0EEF6-68E5-0973-A610-8482D6697C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4502428" y="1514177"/>
            <a:ext cx="7225748" cy="3829645"/>
          </a:xfrm>
          <a:prstGeom prst="rect">
            <a:avLst/>
          </a:prstGeom>
        </p:spPr>
      </p:pic>
    </p:spTree>
    <p:extLst>
      <p:ext uri="{BB962C8B-B14F-4D97-AF65-F5344CB8AC3E}">
        <p14:creationId xmlns:p14="http://schemas.microsoft.com/office/powerpoint/2010/main" val="655854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E8C0-4E48-07AC-C632-058FD54CF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358D2-DFEF-F660-BFF2-8A83811A93F2}"/>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2A64875F-9FA5-82E6-07AA-7126FF3F5A55}"/>
              </a:ext>
            </a:extLst>
          </p:cNvPr>
          <p:cNvSpPr>
            <a:spLocks noGrp="1"/>
          </p:cNvSpPr>
          <p:nvPr>
            <p:ph idx="1"/>
          </p:nvPr>
        </p:nvSpPr>
        <p:spPr/>
        <p:txBody>
          <a:bodyPr>
            <a:normAutofit/>
          </a:bodyPr>
          <a:lstStyle/>
          <a:p>
            <a:r>
              <a:rPr lang="en-US" dirty="0"/>
              <a:t>We have influence in </a:t>
            </a:r>
            <a:r>
              <a:rPr lang="en-US" b="1" u="sng" dirty="0">
                <a:solidFill>
                  <a:srgbClr val="00B050"/>
                </a:solidFill>
              </a:rPr>
              <a:t>100%</a:t>
            </a:r>
            <a:r>
              <a:rPr lang="en-US" dirty="0"/>
              <a:t> of Iowa</a:t>
            </a:r>
          </a:p>
          <a:p>
            <a:r>
              <a:rPr lang="en-US" dirty="0"/>
              <a:t>Scale spender efficiency to larger markets through marketing recreational activities/promotions</a:t>
            </a:r>
          </a:p>
          <a:p>
            <a:pPr lvl="1"/>
            <a:r>
              <a:rPr lang="en-US" dirty="0"/>
              <a:t>Potential global revenue growth </a:t>
            </a:r>
            <a:r>
              <a:rPr lang="en-US" b="1" u="sng" dirty="0">
                <a:solidFill>
                  <a:srgbClr val="00B050"/>
                </a:solidFill>
              </a:rPr>
              <a:t>over 100%</a:t>
            </a:r>
          </a:p>
          <a:p>
            <a:r>
              <a:rPr lang="en-US" dirty="0"/>
              <a:t>More budget towards researching and marketing Black Velvet</a:t>
            </a:r>
          </a:p>
          <a:p>
            <a:r>
              <a:rPr lang="en-US" dirty="0"/>
              <a:t>Reconsider Tequila pilot marketing or drop completely</a:t>
            </a:r>
          </a:p>
          <a:p>
            <a:r>
              <a:rPr lang="en-US" dirty="0"/>
              <a:t>As with customer loyalty, make our brands </a:t>
            </a:r>
            <a:r>
              <a:rPr lang="en-US" b="1" u="sng" dirty="0"/>
              <a:t>worth reaching for</a:t>
            </a:r>
            <a:endParaRPr lang="en-US" dirty="0"/>
          </a:p>
        </p:txBody>
      </p:sp>
    </p:spTree>
    <p:extLst>
      <p:ext uri="{BB962C8B-B14F-4D97-AF65-F5344CB8AC3E}">
        <p14:creationId xmlns:p14="http://schemas.microsoft.com/office/powerpoint/2010/main" val="3831926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46390-67A1-36BB-72E3-035DA62E4ACB}"/>
              </a:ext>
            </a:extLst>
          </p:cNvPr>
          <p:cNvSpPr>
            <a:spLocks noGrp="1"/>
          </p:cNvSpPr>
          <p:nvPr>
            <p:ph type="title"/>
          </p:nvPr>
        </p:nvSpPr>
        <p:spPr/>
        <p:txBody>
          <a:bodyPr/>
          <a:lstStyle/>
          <a:p>
            <a:r>
              <a:rPr lang="en-US" dirty="0"/>
              <a:t>The Risky Play</a:t>
            </a:r>
          </a:p>
        </p:txBody>
      </p:sp>
      <p:sp>
        <p:nvSpPr>
          <p:cNvPr id="3" name="Content Placeholder 2">
            <a:extLst>
              <a:ext uri="{FF2B5EF4-FFF2-40B4-BE49-F238E27FC236}">
                <a16:creationId xmlns:a16="http://schemas.microsoft.com/office/drawing/2014/main" id="{C7BA4404-20B5-31B6-F277-5A3B263BA3E7}"/>
              </a:ext>
            </a:extLst>
          </p:cNvPr>
          <p:cNvSpPr>
            <a:spLocks noGrp="1"/>
          </p:cNvSpPr>
          <p:nvPr>
            <p:ph idx="1"/>
          </p:nvPr>
        </p:nvSpPr>
        <p:spPr/>
        <p:txBody>
          <a:bodyPr>
            <a:normAutofit lnSpcReduction="10000"/>
          </a:bodyPr>
          <a:lstStyle/>
          <a:p>
            <a:r>
              <a:rPr lang="en-US" dirty="0"/>
              <a:t>We acquired Modelo back in 2014</a:t>
            </a:r>
          </a:p>
          <a:p>
            <a:r>
              <a:rPr lang="en-US" dirty="0"/>
              <a:t>Remember Black Velvet</a:t>
            </a:r>
          </a:p>
          <a:p>
            <a:pPr lvl="1"/>
            <a:r>
              <a:rPr lang="en-US" dirty="0"/>
              <a:t>Smooth and easy to drink</a:t>
            </a:r>
          </a:p>
          <a:p>
            <a:pPr lvl="1"/>
            <a:r>
              <a:rPr lang="en-US" dirty="0"/>
              <a:t>Cheap and widely available</a:t>
            </a:r>
          </a:p>
          <a:p>
            <a:pPr lvl="1"/>
            <a:r>
              <a:rPr lang="en-US" dirty="0"/>
              <a:t>Designed for casual drinkers</a:t>
            </a:r>
          </a:p>
          <a:p>
            <a:pPr lvl="1"/>
            <a:r>
              <a:rPr lang="en-US" dirty="0"/>
              <a:t>Sells on brand recognition and loyalty</a:t>
            </a:r>
          </a:p>
          <a:p>
            <a:r>
              <a:rPr lang="en-US" dirty="0"/>
              <a:t>Sell Black Velvet and scale in the beer market</a:t>
            </a:r>
          </a:p>
          <a:p>
            <a:pPr lvl="1"/>
            <a:r>
              <a:rPr lang="en-US" dirty="0"/>
              <a:t>Less expensive, more inclusive of “everyone”</a:t>
            </a:r>
          </a:p>
          <a:p>
            <a:pPr lvl="1"/>
            <a:r>
              <a:rPr lang="en-US" dirty="0"/>
              <a:t>Market it as premium</a:t>
            </a:r>
          </a:p>
          <a:p>
            <a:r>
              <a:rPr lang="en-US" dirty="0"/>
              <a:t>Grab an advantage in a limitless potential market</a:t>
            </a:r>
          </a:p>
        </p:txBody>
      </p:sp>
    </p:spTree>
    <p:extLst>
      <p:ext uri="{BB962C8B-B14F-4D97-AF65-F5344CB8AC3E}">
        <p14:creationId xmlns:p14="http://schemas.microsoft.com/office/powerpoint/2010/main" val="1355991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5B9C7E-C7E4-4571-EA4A-287C7C8AAB98}"/>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Sources</a:t>
            </a:r>
          </a:p>
        </p:txBody>
      </p:sp>
      <p:sp>
        <p:nvSpPr>
          <p:cNvPr id="3" name="Content Placeholder 2">
            <a:extLst>
              <a:ext uri="{FF2B5EF4-FFF2-40B4-BE49-F238E27FC236}">
                <a16:creationId xmlns:a16="http://schemas.microsoft.com/office/drawing/2014/main" id="{47029E12-A6B2-FF8E-2CD0-0799379C94DF}"/>
              </a:ext>
            </a:extLst>
          </p:cNvPr>
          <p:cNvSpPr>
            <a:spLocks noGrp="1"/>
          </p:cNvSpPr>
          <p:nvPr>
            <p:ph idx="1"/>
          </p:nvPr>
        </p:nvSpPr>
        <p:spPr>
          <a:xfrm>
            <a:off x="4810259" y="649480"/>
            <a:ext cx="6555347" cy="5546047"/>
          </a:xfrm>
        </p:spPr>
        <p:txBody>
          <a:bodyPr anchor="ctr">
            <a:normAutofit/>
          </a:bodyPr>
          <a:lstStyle/>
          <a:p>
            <a:r>
              <a:rPr lang="en-US" sz="2000"/>
              <a:t>State of Iowa, Alcoholic Beverages Division. (2014). </a:t>
            </a:r>
            <a:r>
              <a:rPr lang="en-US" sz="2000" i="1"/>
              <a:t>2014 Iowa liquor sales</a:t>
            </a:r>
            <a:r>
              <a:rPr lang="en-US" sz="2000"/>
              <a:t> [Data set]. Iowa Open Data. </a:t>
            </a:r>
            <a:r>
              <a:rPr lang="en-US" sz="2000">
                <a:hlinkClick r:id="rId2"/>
              </a:rPr>
              <a:t>https://data.iowa.gov/Sales-Distribution/2014-Iowa-Liquor-Sales/3m8f-uw4f/about_data</a:t>
            </a:r>
            <a:endParaRPr lang="en-US" sz="2000"/>
          </a:p>
          <a:p>
            <a:r>
              <a:rPr lang="fr-FR" sz="2000"/>
              <a:t>OpenAI. (2024). </a:t>
            </a:r>
            <a:r>
              <a:rPr lang="fr-FR" sz="2000" i="1"/>
              <a:t>ChatGPT</a:t>
            </a:r>
            <a:r>
              <a:rPr lang="fr-FR" sz="2000"/>
              <a:t> (Aug 2024 version) [Large language model]. </a:t>
            </a:r>
            <a:r>
              <a:rPr lang="fr-FR" sz="2000">
                <a:hlinkClick r:id="rId3"/>
              </a:rPr>
              <a:t>https://chat.openai.com/</a:t>
            </a:r>
            <a:endParaRPr lang="en-US" sz="2000"/>
          </a:p>
        </p:txBody>
      </p:sp>
    </p:spTree>
    <p:extLst>
      <p:ext uri="{BB962C8B-B14F-4D97-AF65-F5344CB8AC3E}">
        <p14:creationId xmlns:p14="http://schemas.microsoft.com/office/powerpoint/2010/main" val="1352430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861</TotalTime>
  <Words>903</Words>
  <Application>Microsoft Office PowerPoint</Application>
  <PresentationFormat>Widescreen</PresentationFormat>
  <Paragraphs>136</Paragraphs>
  <Slides>17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Constellation Brands</vt:lpstr>
      <vt:lpstr>Scenario</vt:lpstr>
      <vt:lpstr>Agenda</vt:lpstr>
      <vt:lpstr>Annual Snapshot</vt:lpstr>
      <vt:lpstr>Geographical Analysis</vt:lpstr>
      <vt:lpstr>Geographical Analysis (Cont.)</vt:lpstr>
      <vt:lpstr>Total Revenue vs. Revenue per Capita</vt:lpstr>
      <vt:lpstr>So What?</vt:lpstr>
      <vt:lpstr>Product Performance</vt:lpstr>
      <vt:lpstr>Product Performance (Cont.)</vt:lpstr>
      <vt:lpstr>Black Velvet: The King of the Bottom Shelf</vt:lpstr>
      <vt:lpstr>Tequila Market</vt:lpstr>
      <vt:lpstr>Other Market Mentions</vt:lpstr>
      <vt:lpstr>Other Market Mentions</vt:lpstr>
      <vt:lpstr>Key Takeaways</vt:lpstr>
      <vt:lpstr>The Risky Play</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longley pham</dc:creator>
  <cp:lastModifiedBy>longley pham</cp:lastModifiedBy>
  <cp:revision>7</cp:revision>
  <dcterms:created xsi:type="dcterms:W3CDTF">2026-04-29T23:22:32Z</dcterms:created>
  <dcterms:modified xsi:type="dcterms:W3CDTF">2026-05-01T11:41:33Z</dcterms:modified>
</cp:coreProperties>
</file>