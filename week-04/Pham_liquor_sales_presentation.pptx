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theme/themeOverride1.xml" ContentType="application/vnd.openxmlformats-officedocument.themeOverr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9"/>
  </p:notesMasterIdLst>
  <p:sldIdLst>
    <p:sldId id="256" r:id="rId2"/>
    <p:sldId id="257" r:id="rId3"/>
    <p:sldId id="272" r:id="rId4"/>
    <p:sldId id="258" r:id="rId5"/>
    <p:sldId id="273" r:id="rId6"/>
    <p:sldId id="270" r:id="rId7"/>
    <p:sldId id="274" r:id="rId8"/>
    <p:sldId id="275" r:id="rId9"/>
    <p:sldId id="260" r:id="rId10"/>
    <p:sldId id="278" r:id="rId11"/>
    <p:sldId id="261" r:id="rId12"/>
    <p:sldId id="262" r:id="rId13"/>
    <p:sldId id="265" r:id="rId14"/>
    <p:sldId id="279" r:id="rId15"/>
    <p:sldId id="267" r:id="rId16"/>
    <p:sldId id="276" r:id="rId17"/>
    <p:sldId id="269"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10" autoAdjust="0"/>
    <p:restoredTop sz="76091" autoAdjust="0"/>
  </p:normalViewPr>
  <p:slideViewPr>
    <p:cSldViewPr snapToGrid="0">
      <p:cViewPr varScale="1">
        <p:scale>
          <a:sx n="118" d="100"/>
          <a:sy n="118" d="100"/>
        </p:scale>
        <p:origin x="1860"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0FB398-5626-4DAA-BD19-B2F8F3D1EB3C}" type="datetimeFigureOut">
              <a:rPr lang="en-US" smtClean="0"/>
              <a:t>5/1/2026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A18230D-6974-4A26-8365-62E356C4785F}" type="slidenum">
              <a:rPr lang="en-US" smtClean="0"/>
              <a:t>‹#›</a:t>
            </a:fld>
            <a:endParaRPr lang="en-US"/>
          </a:p>
        </p:txBody>
      </p:sp>
    </p:spTree>
    <p:extLst>
      <p:ext uri="{BB962C8B-B14F-4D97-AF65-F5344CB8AC3E}">
        <p14:creationId xmlns:p14="http://schemas.microsoft.com/office/powerpoint/2010/main" val="10368219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a:t>
            </a:r>
          </a:p>
          <a:p>
            <a:r>
              <a:rPr lang="en-US" dirty="0"/>
              <a:t>Aspiring Data Analyst at Year Up United – Chicago location</a:t>
            </a:r>
          </a:p>
        </p:txBody>
      </p:sp>
      <p:sp>
        <p:nvSpPr>
          <p:cNvPr id="4" name="Slide Number Placeholder 3"/>
          <p:cNvSpPr>
            <a:spLocks noGrp="1"/>
          </p:cNvSpPr>
          <p:nvPr>
            <p:ph type="sldNum" sz="quarter" idx="5"/>
          </p:nvPr>
        </p:nvSpPr>
        <p:spPr/>
        <p:txBody>
          <a:bodyPr/>
          <a:lstStyle/>
          <a:p>
            <a:fld id="{9A18230D-6974-4A26-8365-62E356C4785F}" type="slidenum">
              <a:rPr lang="en-US" smtClean="0"/>
              <a:t>1</a:t>
            </a:fld>
            <a:endParaRPr lang="en-US"/>
          </a:p>
        </p:txBody>
      </p:sp>
    </p:spTree>
    <p:extLst>
      <p:ext uri="{BB962C8B-B14F-4D97-AF65-F5344CB8AC3E}">
        <p14:creationId xmlns:p14="http://schemas.microsoft.com/office/powerpoint/2010/main" val="37886115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Brought in as a consultant to analyze and make sales recommendation to improve revenue and market outreach</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2014 Iowa Liquor Sales Data</a:t>
            </a:r>
          </a:p>
          <a:p>
            <a:endParaRPr lang="en-US" dirty="0"/>
          </a:p>
          <a:p>
            <a:r>
              <a:rPr lang="en-US" dirty="0"/>
              <a:t>Products within the spirit market, strengths, weaknesses, and how to grow beyond what is offered.</a:t>
            </a:r>
          </a:p>
          <a:p>
            <a:endParaRPr lang="en-US" dirty="0"/>
          </a:p>
          <a:p>
            <a:endParaRPr lang="en-US" dirty="0"/>
          </a:p>
          <a:p>
            <a:endParaRPr lang="en-US" dirty="0"/>
          </a:p>
          <a:p>
            <a:r>
              <a:rPr lang="en-US" dirty="0"/>
              <a:t>You have been brought on as a data consultant by Constellation Brands to analyze sales performance using the Iowa Liquor Sales database, with a specific focus on transactions from 2014. The company wants to better understand how one of its product categories or brands performed during that year across different markets to inform future strategy.</a:t>
            </a:r>
          </a:p>
          <a:p>
            <a:r>
              <a:rPr lang="en-US" dirty="0"/>
              <a:t>Your role is to conduct a SWOT-style analysis by writing SQL queries that explore transaction data, product performance, store activity, and regional trends. You will focus on a specific category or vendor within the dataset to identify strengths, weaknesses, opportunities, and threats based on 2014 sales data.</a:t>
            </a:r>
          </a:p>
          <a:p>
            <a:r>
              <a:rPr lang="en-US" dirty="0"/>
              <a:t>As part of your analysis, you will generate insights from the data and export selected results to create visualizations that support your findings. These insights will be used to present actionable recommendations to Constellation Brands’ leadership team.</a:t>
            </a:r>
          </a:p>
          <a:p>
            <a:r>
              <a:rPr lang="en-US" dirty="0"/>
              <a:t>(OpenAI 2026)</a:t>
            </a:r>
          </a:p>
        </p:txBody>
      </p:sp>
      <p:sp>
        <p:nvSpPr>
          <p:cNvPr id="4" name="Slide Number Placeholder 3"/>
          <p:cNvSpPr>
            <a:spLocks noGrp="1"/>
          </p:cNvSpPr>
          <p:nvPr>
            <p:ph type="sldNum" sz="quarter" idx="5"/>
          </p:nvPr>
        </p:nvSpPr>
        <p:spPr/>
        <p:txBody>
          <a:bodyPr/>
          <a:lstStyle/>
          <a:p>
            <a:fld id="{9A18230D-6974-4A26-8365-62E356C4785F}" type="slidenum">
              <a:rPr lang="en-US" smtClean="0"/>
              <a:t>2</a:t>
            </a:fld>
            <a:endParaRPr lang="en-US"/>
          </a:p>
        </p:txBody>
      </p:sp>
    </p:spTree>
    <p:extLst>
      <p:ext uri="{BB962C8B-B14F-4D97-AF65-F5344CB8AC3E}">
        <p14:creationId xmlns:p14="http://schemas.microsoft.com/office/powerpoint/2010/main" val="31565983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A18230D-6974-4A26-8365-62E356C4785F}" type="slidenum">
              <a:rPr lang="en-US" smtClean="0"/>
              <a:t>3</a:t>
            </a:fld>
            <a:endParaRPr lang="en-US"/>
          </a:p>
        </p:txBody>
      </p:sp>
    </p:spTree>
    <p:extLst>
      <p:ext uri="{BB962C8B-B14F-4D97-AF65-F5344CB8AC3E}">
        <p14:creationId xmlns:p14="http://schemas.microsoft.com/office/powerpoint/2010/main" val="10198610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Constellation known for premium brands marketed towards consumers</a:t>
            </a:r>
          </a:p>
          <a:p>
            <a:endParaRPr lang="en-US" dirty="0"/>
          </a:p>
          <a:p>
            <a:r>
              <a:rPr lang="en-US" dirty="0"/>
              <a:t>Establish long-term relationship through trust and loyalty</a:t>
            </a:r>
          </a:p>
          <a:p>
            <a:endParaRPr lang="en-US" dirty="0"/>
          </a:p>
          <a:p>
            <a:r>
              <a:rPr lang="en-US" dirty="0"/>
              <a:t>Data drawn from 2014 fiscal year</a:t>
            </a:r>
          </a:p>
          <a:p>
            <a:endParaRPr lang="en-US" dirty="0"/>
          </a:p>
          <a:p>
            <a:r>
              <a:rPr lang="en-US" dirty="0"/>
              <a:t>Spirits and Liqueur</a:t>
            </a:r>
          </a:p>
          <a:p>
            <a:endParaRPr lang="en-US" dirty="0"/>
          </a:p>
          <a:p>
            <a:r>
              <a:rPr lang="en-US" dirty="0"/>
              <a:t>Notes:</a:t>
            </a:r>
          </a:p>
          <a:p>
            <a:r>
              <a:rPr lang="en-US" dirty="0"/>
              <a:t>Year 2014</a:t>
            </a:r>
          </a:p>
          <a:p>
            <a:endParaRPr lang="en-US" dirty="0"/>
          </a:p>
        </p:txBody>
      </p:sp>
      <p:sp>
        <p:nvSpPr>
          <p:cNvPr id="4" name="Slide Number Placeholder 3"/>
          <p:cNvSpPr>
            <a:spLocks noGrp="1"/>
          </p:cNvSpPr>
          <p:nvPr>
            <p:ph type="sldNum" sz="quarter" idx="5"/>
          </p:nvPr>
        </p:nvSpPr>
        <p:spPr/>
        <p:txBody>
          <a:bodyPr/>
          <a:lstStyle/>
          <a:p>
            <a:fld id="{9A18230D-6974-4A26-8365-62E356C4785F}" type="slidenum">
              <a:rPr lang="en-US" smtClean="0"/>
              <a:t>4</a:t>
            </a:fld>
            <a:endParaRPr lang="en-US"/>
          </a:p>
        </p:txBody>
      </p:sp>
    </p:spTree>
    <p:extLst>
      <p:ext uri="{BB962C8B-B14F-4D97-AF65-F5344CB8AC3E}">
        <p14:creationId xmlns:p14="http://schemas.microsoft.com/office/powerpoint/2010/main" val="10288272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a:t>
            </a:r>
          </a:p>
          <a:p>
            <a:r>
              <a:rPr lang="en-US" dirty="0"/>
              <a:t>Fiscal Year 2014</a:t>
            </a:r>
          </a:p>
          <a:p>
            <a:r>
              <a:rPr lang="en-US" dirty="0"/>
              <a:t>Iowa Counties &gt; 10000</a:t>
            </a:r>
          </a:p>
          <a:p>
            <a:endParaRPr lang="en-US" dirty="0"/>
          </a:p>
          <a:p>
            <a:r>
              <a:rPr lang="en-US" dirty="0"/>
              <a:t>Highest earners</a:t>
            </a:r>
          </a:p>
          <a:p>
            <a:r>
              <a:rPr lang="en-US" dirty="0"/>
              <a:t>Lowest earners</a:t>
            </a:r>
          </a:p>
          <a:p>
            <a:endParaRPr lang="en-US" dirty="0"/>
          </a:p>
          <a:p>
            <a:r>
              <a:rPr lang="en-US" dirty="0"/>
              <a:t>As the county population increases, the more revenue they generate</a:t>
            </a:r>
          </a:p>
        </p:txBody>
      </p:sp>
      <p:sp>
        <p:nvSpPr>
          <p:cNvPr id="4" name="Slide Number Placeholder 3"/>
          <p:cNvSpPr>
            <a:spLocks noGrp="1"/>
          </p:cNvSpPr>
          <p:nvPr>
            <p:ph type="sldNum" sz="quarter" idx="5"/>
          </p:nvPr>
        </p:nvSpPr>
        <p:spPr/>
        <p:txBody>
          <a:bodyPr/>
          <a:lstStyle/>
          <a:p>
            <a:fld id="{9A18230D-6974-4A26-8365-62E356C4785F}" type="slidenum">
              <a:rPr lang="en-US" smtClean="0"/>
              <a:t>5</a:t>
            </a:fld>
            <a:endParaRPr lang="en-US"/>
          </a:p>
        </p:txBody>
      </p:sp>
    </p:spTree>
    <p:extLst>
      <p:ext uri="{BB962C8B-B14F-4D97-AF65-F5344CB8AC3E}">
        <p14:creationId xmlns:p14="http://schemas.microsoft.com/office/powerpoint/2010/main" val="243330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C9233-2773-E890-0A10-67E679A504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B7D78E-112E-92C3-B3BC-AE71E617BC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8D2C95-B549-B3A1-59A3-53C8090F521D}"/>
              </a:ext>
            </a:extLst>
          </p:cNvPr>
          <p:cNvSpPr>
            <a:spLocks noGrp="1"/>
          </p:cNvSpPr>
          <p:nvPr>
            <p:ph type="body" idx="1"/>
          </p:nvPr>
        </p:nvSpPr>
        <p:spPr/>
        <p:txBody>
          <a:bodyPr/>
          <a:lstStyle/>
          <a:p>
            <a:r>
              <a:rPr lang="en-US" dirty="0"/>
              <a:t>Notes:</a:t>
            </a:r>
          </a:p>
          <a:p>
            <a:r>
              <a:rPr lang="en-US" dirty="0"/>
              <a:t>Revenue</a:t>
            </a:r>
          </a:p>
          <a:p>
            <a:pPr lvl="1"/>
            <a:r>
              <a:rPr lang="en-US" dirty="0"/>
              <a:t>Average revenue generated per county: $235K</a:t>
            </a:r>
          </a:p>
          <a:p>
            <a:pPr lvl="1"/>
            <a:r>
              <a:rPr lang="en-US" dirty="0"/>
              <a:t>Highest: Polk; lowest: Keokuk</a:t>
            </a:r>
          </a:p>
          <a:p>
            <a:r>
              <a:rPr lang="en-US" dirty="0"/>
              <a:t>Polk, Linn, and Black Hawk were our highest revenue generators</a:t>
            </a:r>
          </a:p>
          <a:p>
            <a:pPr lvl="1"/>
            <a:r>
              <a:rPr lang="en-US" dirty="0"/>
              <a:t>Over $1M in sales</a:t>
            </a:r>
          </a:p>
          <a:p>
            <a:r>
              <a:rPr lang="en-US" dirty="0"/>
              <a:t>Keokuk, Hancock, Mills were our lowest revenue generator</a:t>
            </a:r>
          </a:p>
          <a:p>
            <a:br>
              <a:rPr lang="en-US" dirty="0"/>
            </a:br>
            <a:r>
              <a:rPr lang="en-US" dirty="0"/>
              <a:t>Dickinson, O’Brien, and Carroll had the biggest spending per person</a:t>
            </a:r>
          </a:p>
          <a:p>
            <a:endParaRPr lang="en-US" dirty="0"/>
          </a:p>
          <a:p>
            <a:r>
              <a:rPr lang="en-US" dirty="0"/>
              <a:t>Dickinson – about $20 per person</a:t>
            </a:r>
          </a:p>
          <a:p>
            <a:endParaRPr lang="en-US" dirty="0"/>
          </a:p>
          <a:p>
            <a:r>
              <a:rPr lang="en-US" dirty="0"/>
              <a:t>Dickinson’s population is only short of 17000 people. Over $320K in value</a:t>
            </a:r>
          </a:p>
        </p:txBody>
      </p:sp>
      <p:sp>
        <p:nvSpPr>
          <p:cNvPr id="4" name="Slide Number Placeholder 3">
            <a:extLst>
              <a:ext uri="{FF2B5EF4-FFF2-40B4-BE49-F238E27FC236}">
                <a16:creationId xmlns:a16="http://schemas.microsoft.com/office/drawing/2014/main" id="{0F2CD9AF-3347-30E8-2912-A03B3C20B178}"/>
              </a:ext>
            </a:extLst>
          </p:cNvPr>
          <p:cNvSpPr>
            <a:spLocks noGrp="1"/>
          </p:cNvSpPr>
          <p:nvPr>
            <p:ph type="sldNum" sz="quarter" idx="5"/>
          </p:nvPr>
        </p:nvSpPr>
        <p:spPr/>
        <p:txBody>
          <a:bodyPr/>
          <a:lstStyle/>
          <a:p>
            <a:fld id="{9A18230D-6974-4A26-8365-62E356C4785F}" type="slidenum">
              <a:rPr lang="en-US" smtClean="0"/>
              <a:t>6</a:t>
            </a:fld>
            <a:endParaRPr lang="en-US"/>
          </a:p>
        </p:txBody>
      </p:sp>
    </p:spTree>
    <p:extLst>
      <p:ext uri="{BB962C8B-B14F-4D97-AF65-F5344CB8AC3E}">
        <p14:creationId xmlns:p14="http://schemas.microsoft.com/office/powerpoint/2010/main" val="4514029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Larger market, average, sub-par spending</a:t>
            </a:r>
          </a:p>
          <a:p>
            <a:r>
              <a:rPr lang="en-US" dirty="0"/>
              <a:t>Vs</a:t>
            </a:r>
          </a:p>
          <a:p>
            <a:r>
              <a:rPr lang="en-US" dirty="0"/>
              <a:t>Smaller market, very high spending</a:t>
            </a:r>
          </a:p>
          <a:p>
            <a:endParaRPr lang="en-US" dirty="0"/>
          </a:p>
          <a:p>
            <a:r>
              <a:rPr lang="en-US" dirty="0"/>
              <a:t>Geographical differences</a:t>
            </a:r>
          </a:p>
          <a:p>
            <a:endParaRPr lang="en-US" dirty="0"/>
          </a:p>
          <a:p>
            <a:r>
              <a:rPr lang="en-US" dirty="0"/>
              <a:t>Overall, our efficiency relies on how to maximize a large market and high spending in one concentrated area.</a:t>
            </a:r>
          </a:p>
        </p:txBody>
      </p:sp>
      <p:sp>
        <p:nvSpPr>
          <p:cNvPr id="4" name="Slide Number Placeholder 3"/>
          <p:cNvSpPr>
            <a:spLocks noGrp="1"/>
          </p:cNvSpPr>
          <p:nvPr>
            <p:ph type="sldNum" sz="quarter" idx="5"/>
          </p:nvPr>
        </p:nvSpPr>
        <p:spPr/>
        <p:txBody>
          <a:bodyPr/>
          <a:lstStyle/>
          <a:p>
            <a:fld id="{9A18230D-6974-4A26-8365-62E356C4785F}" type="slidenum">
              <a:rPr lang="en-US" smtClean="0"/>
              <a:t>7</a:t>
            </a:fld>
            <a:endParaRPr lang="en-US"/>
          </a:p>
        </p:txBody>
      </p:sp>
    </p:spTree>
    <p:extLst>
      <p:ext uri="{BB962C8B-B14F-4D97-AF65-F5344CB8AC3E}">
        <p14:creationId xmlns:p14="http://schemas.microsoft.com/office/powerpoint/2010/main" val="12120824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Weak positive to no correlation based off our trend line.</a:t>
            </a:r>
          </a:p>
          <a:p>
            <a:endParaRPr lang="en-US" dirty="0"/>
          </a:p>
          <a:p>
            <a:r>
              <a:rPr lang="en-US" dirty="0"/>
              <a:t>Can’t say for sure that, however, we can look into how to push the bar a little higher and generate more value</a:t>
            </a:r>
          </a:p>
        </p:txBody>
      </p:sp>
      <p:sp>
        <p:nvSpPr>
          <p:cNvPr id="4" name="Slide Number Placeholder 3"/>
          <p:cNvSpPr>
            <a:spLocks noGrp="1"/>
          </p:cNvSpPr>
          <p:nvPr>
            <p:ph type="sldNum" sz="quarter" idx="5"/>
          </p:nvPr>
        </p:nvSpPr>
        <p:spPr/>
        <p:txBody>
          <a:bodyPr/>
          <a:lstStyle/>
          <a:p>
            <a:fld id="{9A18230D-6974-4A26-8365-62E356C4785F}" type="slidenum">
              <a:rPr lang="en-US" smtClean="0"/>
              <a:t>8</a:t>
            </a:fld>
            <a:endParaRPr lang="en-US"/>
          </a:p>
        </p:txBody>
      </p:sp>
    </p:spTree>
    <p:extLst>
      <p:ext uri="{BB962C8B-B14F-4D97-AF65-F5344CB8AC3E}">
        <p14:creationId xmlns:p14="http://schemas.microsoft.com/office/powerpoint/2010/main" val="31526119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best and the worst</a:t>
            </a:r>
          </a:p>
        </p:txBody>
      </p:sp>
      <p:sp>
        <p:nvSpPr>
          <p:cNvPr id="4" name="Slide Number Placeholder 3"/>
          <p:cNvSpPr>
            <a:spLocks noGrp="1"/>
          </p:cNvSpPr>
          <p:nvPr>
            <p:ph type="sldNum" sz="quarter" idx="5"/>
          </p:nvPr>
        </p:nvSpPr>
        <p:spPr/>
        <p:txBody>
          <a:bodyPr/>
          <a:lstStyle/>
          <a:p>
            <a:fld id="{9A18230D-6974-4A26-8365-62E356C4785F}" type="slidenum">
              <a:rPr lang="en-US" smtClean="0"/>
              <a:t>9</a:t>
            </a:fld>
            <a:endParaRPr lang="en-US"/>
          </a:p>
        </p:txBody>
      </p:sp>
    </p:spTree>
    <p:extLst>
      <p:ext uri="{BB962C8B-B14F-4D97-AF65-F5344CB8AC3E}">
        <p14:creationId xmlns:p14="http://schemas.microsoft.com/office/powerpoint/2010/main" val="20884308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Constellation products did best in Whiskies and Black Velvet (give numbers)</a:t>
            </a:r>
          </a:p>
        </p:txBody>
      </p:sp>
      <p:sp>
        <p:nvSpPr>
          <p:cNvPr id="4" name="Slide Number Placeholder 3"/>
          <p:cNvSpPr>
            <a:spLocks noGrp="1"/>
          </p:cNvSpPr>
          <p:nvPr>
            <p:ph type="sldNum" sz="quarter" idx="5"/>
          </p:nvPr>
        </p:nvSpPr>
        <p:spPr/>
        <p:txBody>
          <a:bodyPr/>
          <a:lstStyle/>
          <a:p>
            <a:fld id="{9A18230D-6974-4A26-8365-62E356C4785F}" type="slidenum">
              <a:rPr lang="en-US" smtClean="0"/>
              <a:t>10</a:t>
            </a:fld>
            <a:endParaRPr lang="en-US"/>
          </a:p>
        </p:txBody>
      </p:sp>
    </p:spTree>
    <p:extLst>
      <p:ext uri="{BB962C8B-B14F-4D97-AF65-F5344CB8AC3E}">
        <p14:creationId xmlns:p14="http://schemas.microsoft.com/office/powerpoint/2010/main" val="26491879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Black Velvet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Makes up 99.7% of whiskey sales.</a:t>
            </a:r>
          </a:p>
          <a:p>
            <a:r>
              <a:rPr lang="en-US" dirty="0"/>
              <a:t>#1 leading product among all other competitors</a:t>
            </a:r>
          </a:p>
          <a:p>
            <a:endParaRPr lang="en-US" dirty="0"/>
          </a:p>
          <a:p>
            <a:r>
              <a:rPr lang="en-US" dirty="0"/>
              <a:t>“Something you can crack open without worry about cost and being around friends and family.”</a:t>
            </a:r>
          </a:p>
          <a:p>
            <a:endParaRPr lang="en-US" dirty="0"/>
          </a:p>
          <a:p>
            <a:endParaRPr lang="en-US" dirty="0"/>
          </a:p>
          <a:p>
            <a:r>
              <a:rPr lang="en-US" dirty="0"/>
              <a:t>We can set the pace, we can widen the gap, but we will own the finish line</a:t>
            </a:r>
          </a:p>
          <a:p>
            <a:r>
              <a:rPr lang="en-US" dirty="0"/>
              <a:t>(within the whiskey industry</a:t>
            </a:r>
          </a:p>
        </p:txBody>
      </p:sp>
      <p:sp>
        <p:nvSpPr>
          <p:cNvPr id="4" name="Slide Number Placeholder 3"/>
          <p:cNvSpPr>
            <a:spLocks noGrp="1"/>
          </p:cNvSpPr>
          <p:nvPr>
            <p:ph type="sldNum" sz="quarter" idx="5"/>
          </p:nvPr>
        </p:nvSpPr>
        <p:spPr/>
        <p:txBody>
          <a:bodyPr/>
          <a:lstStyle/>
          <a:p>
            <a:fld id="{9A18230D-6974-4A26-8365-62E356C4785F}" type="slidenum">
              <a:rPr lang="en-US" smtClean="0"/>
              <a:t>11</a:t>
            </a:fld>
            <a:endParaRPr lang="en-US"/>
          </a:p>
        </p:txBody>
      </p:sp>
    </p:spTree>
    <p:extLst>
      <p:ext uri="{BB962C8B-B14F-4D97-AF65-F5344CB8AC3E}">
        <p14:creationId xmlns:p14="http://schemas.microsoft.com/office/powerpoint/2010/main" val="35117728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Weakness</a:t>
            </a:r>
          </a:p>
          <a:p>
            <a:r>
              <a:rPr lang="en-US" dirty="0"/>
              <a:t>Lowest transaction</a:t>
            </a:r>
          </a:p>
          <a:p>
            <a:r>
              <a:rPr lang="en-US" dirty="0"/>
              <a:t>No focus around tequila market</a:t>
            </a:r>
          </a:p>
          <a:p>
            <a:endParaRPr lang="en-US" dirty="0"/>
          </a:p>
          <a:p>
            <a:r>
              <a:rPr lang="en-US" dirty="0"/>
              <a:t>Maybe expensive, or a potential market</a:t>
            </a:r>
          </a:p>
          <a:p>
            <a:r>
              <a:rPr lang="en-US" dirty="0"/>
              <a:t>Regardless, still risky but worth a look into because</a:t>
            </a:r>
          </a:p>
          <a:p>
            <a:endParaRPr lang="en-US" dirty="0"/>
          </a:p>
          <a:p>
            <a:r>
              <a:rPr lang="en-US" dirty="0"/>
              <a:t>THINGS CAN CHANGE</a:t>
            </a:r>
          </a:p>
        </p:txBody>
      </p:sp>
      <p:sp>
        <p:nvSpPr>
          <p:cNvPr id="4" name="Slide Number Placeholder 3"/>
          <p:cNvSpPr>
            <a:spLocks noGrp="1"/>
          </p:cNvSpPr>
          <p:nvPr>
            <p:ph type="sldNum" sz="quarter" idx="5"/>
          </p:nvPr>
        </p:nvSpPr>
        <p:spPr/>
        <p:txBody>
          <a:bodyPr/>
          <a:lstStyle/>
          <a:p>
            <a:fld id="{9A18230D-6974-4A26-8365-62E356C4785F}" type="slidenum">
              <a:rPr lang="en-US" smtClean="0"/>
              <a:t>12</a:t>
            </a:fld>
            <a:endParaRPr lang="en-US"/>
          </a:p>
        </p:txBody>
      </p:sp>
    </p:spTree>
    <p:extLst>
      <p:ext uri="{BB962C8B-B14F-4D97-AF65-F5344CB8AC3E}">
        <p14:creationId xmlns:p14="http://schemas.microsoft.com/office/powerpoint/2010/main" val="3633363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r>
              <a:rPr lang="en-US" baseline="30000" dirty="0"/>
              <a:t>nd</a:t>
            </a:r>
            <a:r>
              <a:rPr lang="en-US" dirty="0"/>
              <a:t> strongest market: Vodka</a:t>
            </a:r>
          </a:p>
          <a:p>
            <a:r>
              <a:rPr lang="en-US" dirty="0"/>
              <a:t>Within top 10</a:t>
            </a:r>
          </a:p>
          <a:p>
            <a:r>
              <a:rPr lang="en-US" dirty="0"/>
              <a:t>Less than 3% of the market</a:t>
            </a:r>
          </a:p>
          <a:p>
            <a:r>
              <a:rPr lang="en-US" dirty="0"/>
              <a:t>$2.3M in a market over $75M</a:t>
            </a:r>
          </a:p>
        </p:txBody>
      </p:sp>
      <p:sp>
        <p:nvSpPr>
          <p:cNvPr id="4" name="Slide Number Placeholder 3"/>
          <p:cNvSpPr>
            <a:spLocks noGrp="1"/>
          </p:cNvSpPr>
          <p:nvPr>
            <p:ph type="sldNum" sz="quarter" idx="5"/>
          </p:nvPr>
        </p:nvSpPr>
        <p:spPr/>
        <p:txBody>
          <a:bodyPr/>
          <a:lstStyle/>
          <a:p>
            <a:fld id="{9A18230D-6974-4A26-8365-62E356C4785F}" type="slidenum">
              <a:rPr lang="en-US" smtClean="0"/>
              <a:t>13</a:t>
            </a:fld>
            <a:endParaRPr lang="en-US"/>
          </a:p>
        </p:txBody>
      </p:sp>
    </p:spTree>
    <p:extLst>
      <p:ext uri="{BB962C8B-B14F-4D97-AF65-F5344CB8AC3E}">
        <p14:creationId xmlns:p14="http://schemas.microsoft.com/office/powerpoint/2010/main" val="2309977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Brandy, Top 5 in market</a:t>
            </a:r>
          </a:p>
          <a:p>
            <a:r>
              <a:rPr lang="en-US" dirty="0"/>
              <a:t>10%, $1.39M out of $13M</a:t>
            </a:r>
          </a:p>
          <a:p>
            <a:r>
              <a:rPr lang="en-US" dirty="0"/>
              <a:t>Doing better in terms of market share, but still least driving in revenue.</a:t>
            </a:r>
          </a:p>
          <a:p>
            <a:r>
              <a:rPr lang="en-US" dirty="0"/>
              <a:t>We can see our influence, yet it does not have a big impact as Whiskey does.</a:t>
            </a:r>
          </a:p>
        </p:txBody>
      </p:sp>
      <p:sp>
        <p:nvSpPr>
          <p:cNvPr id="4" name="Slide Number Placeholder 3"/>
          <p:cNvSpPr>
            <a:spLocks noGrp="1"/>
          </p:cNvSpPr>
          <p:nvPr>
            <p:ph type="sldNum" sz="quarter" idx="5"/>
          </p:nvPr>
        </p:nvSpPr>
        <p:spPr/>
        <p:txBody>
          <a:bodyPr/>
          <a:lstStyle/>
          <a:p>
            <a:fld id="{9A18230D-6974-4A26-8365-62E356C4785F}" type="slidenum">
              <a:rPr lang="en-US" smtClean="0"/>
              <a:t>14</a:t>
            </a:fld>
            <a:endParaRPr lang="en-US"/>
          </a:p>
        </p:txBody>
      </p:sp>
    </p:spTree>
    <p:extLst>
      <p:ext uri="{BB962C8B-B14F-4D97-AF65-F5344CB8AC3E}">
        <p14:creationId xmlns:p14="http://schemas.microsoft.com/office/powerpoint/2010/main" val="15076714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Explore the Beer market and Wine market to see improvement</a:t>
            </a:r>
          </a:p>
          <a:p>
            <a:r>
              <a:rPr lang="en-US" dirty="0"/>
              <a:t>	Acquisition of Modelo to enter the beer market in 2013</a:t>
            </a:r>
          </a:p>
          <a:p>
            <a:endParaRPr lang="en-US" dirty="0"/>
          </a:p>
          <a:p>
            <a:r>
              <a:rPr lang="en-US" dirty="0"/>
              <a:t>Focus on depth rather than breadth; we already captured Iowa.</a:t>
            </a:r>
          </a:p>
          <a:p>
            <a:endParaRPr lang="en-US" dirty="0"/>
          </a:p>
          <a:p>
            <a:r>
              <a:rPr lang="en-US" dirty="0"/>
              <a:t>Maximize spending with spenders to achieve higher spending</a:t>
            </a:r>
          </a:p>
          <a:p>
            <a:pPr lvl="1"/>
            <a:r>
              <a:rPr lang="en-US" dirty="0"/>
              <a:t>Potential global revenue growth </a:t>
            </a:r>
            <a:r>
              <a:rPr lang="en-US" b="1" u="sng" dirty="0">
                <a:solidFill>
                  <a:srgbClr val="00B050"/>
                </a:solidFill>
              </a:rPr>
              <a:t>over 100%</a:t>
            </a:r>
          </a:p>
          <a:p>
            <a:endParaRPr lang="en-US" dirty="0"/>
          </a:p>
          <a:p>
            <a:r>
              <a:rPr lang="en-US" dirty="0"/>
              <a:t>More budget towards researching and marketing Black Velvet and its variants; whisky industry</a:t>
            </a:r>
          </a:p>
          <a:p>
            <a:pPr lvl="1"/>
            <a:r>
              <a:rPr lang="en-US" dirty="0"/>
              <a:t>Replicate its success among </a:t>
            </a:r>
            <a:r>
              <a:rPr lang="en-US" dirty="0" err="1"/>
              <a:t>Svedka</a:t>
            </a:r>
            <a:endParaRPr lang="en-US" dirty="0"/>
          </a:p>
          <a:p>
            <a:pPr lvl="1"/>
            <a:r>
              <a:rPr lang="en-US" dirty="0"/>
              <a:t>Make our products a staple in everyone’s home</a:t>
            </a:r>
          </a:p>
          <a:p>
            <a:pPr lvl="1"/>
            <a:r>
              <a:rPr lang="en-US" dirty="0"/>
              <a:t>Enough so that young adults can enjoy it too once they’re legal</a:t>
            </a:r>
          </a:p>
          <a:p>
            <a:pPr lvl="1"/>
            <a:r>
              <a:rPr lang="en-US" dirty="0"/>
              <a:t>May be expensive</a:t>
            </a:r>
          </a:p>
          <a:p>
            <a:endParaRPr lang="en-US" dirty="0"/>
          </a:p>
          <a:p>
            <a:r>
              <a:rPr lang="en-US" dirty="0"/>
              <a:t>Reconsider Tequila pilot marketing or drop completely</a:t>
            </a:r>
          </a:p>
          <a:p>
            <a:endParaRPr lang="en-US" dirty="0"/>
          </a:p>
          <a:p>
            <a:r>
              <a:rPr lang="en-US" dirty="0"/>
              <a:t>As with customer loyalty, make our brands </a:t>
            </a:r>
            <a:r>
              <a:rPr lang="en-US" b="1" u="sng" dirty="0"/>
              <a:t>worth reaching for</a:t>
            </a:r>
            <a:endParaRPr lang="en-US" dirty="0"/>
          </a:p>
        </p:txBody>
      </p:sp>
      <p:sp>
        <p:nvSpPr>
          <p:cNvPr id="4" name="Slide Number Placeholder 3"/>
          <p:cNvSpPr>
            <a:spLocks noGrp="1"/>
          </p:cNvSpPr>
          <p:nvPr>
            <p:ph type="sldNum" sz="quarter" idx="5"/>
          </p:nvPr>
        </p:nvSpPr>
        <p:spPr/>
        <p:txBody>
          <a:bodyPr/>
          <a:lstStyle/>
          <a:p>
            <a:fld id="{9A18230D-6974-4A26-8365-62E356C4785F}" type="slidenum">
              <a:rPr lang="en-US" smtClean="0"/>
              <a:t>15</a:t>
            </a:fld>
            <a:endParaRPr lang="en-US"/>
          </a:p>
        </p:txBody>
      </p:sp>
    </p:spTree>
    <p:extLst>
      <p:ext uri="{BB962C8B-B14F-4D97-AF65-F5344CB8AC3E}">
        <p14:creationId xmlns:p14="http://schemas.microsoft.com/office/powerpoint/2010/main" val="28367361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risky proposition</a:t>
            </a:r>
          </a:p>
          <a:p>
            <a:endParaRPr lang="en-US" dirty="0"/>
          </a:p>
          <a:p>
            <a:r>
              <a:rPr lang="en-US" dirty="0"/>
              <a:t>We sell off Black Velvet to enter the beer market through Modelo.</a:t>
            </a:r>
          </a:p>
          <a:p>
            <a:endParaRPr lang="en-US" dirty="0"/>
          </a:p>
          <a:p>
            <a:r>
              <a:rPr lang="en-US" dirty="0"/>
              <a:t>Research that in 2013, Constellation acquired U.S rights to Modelo.</a:t>
            </a:r>
          </a:p>
          <a:p>
            <a:endParaRPr lang="en-US" dirty="0"/>
          </a:p>
          <a:p>
            <a:r>
              <a:rPr lang="en-US" dirty="0"/>
              <a:t>Spirits vs Beer</a:t>
            </a:r>
          </a:p>
          <a:p>
            <a:endParaRPr lang="en-US" dirty="0"/>
          </a:p>
          <a:p>
            <a:r>
              <a:rPr lang="en-US" dirty="0"/>
              <a:t>Thank </a:t>
            </a:r>
            <a:r>
              <a:rPr lang="en-US" dirty="0" err="1"/>
              <a:t>yous</a:t>
            </a:r>
            <a:endParaRPr lang="en-US" dirty="0"/>
          </a:p>
        </p:txBody>
      </p:sp>
      <p:sp>
        <p:nvSpPr>
          <p:cNvPr id="4" name="Slide Number Placeholder 3"/>
          <p:cNvSpPr>
            <a:spLocks noGrp="1"/>
          </p:cNvSpPr>
          <p:nvPr>
            <p:ph type="sldNum" sz="quarter" idx="5"/>
          </p:nvPr>
        </p:nvSpPr>
        <p:spPr/>
        <p:txBody>
          <a:bodyPr/>
          <a:lstStyle/>
          <a:p>
            <a:fld id="{9A18230D-6974-4A26-8365-62E356C4785F}" type="slidenum">
              <a:rPr lang="en-US" smtClean="0"/>
              <a:t>16</a:t>
            </a:fld>
            <a:endParaRPr lang="en-US"/>
          </a:p>
        </p:txBody>
      </p:sp>
    </p:spTree>
    <p:extLst>
      <p:ext uri="{BB962C8B-B14F-4D97-AF65-F5344CB8AC3E}">
        <p14:creationId xmlns:p14="http://schemas.microsoft.com/office/powerpoint/2010/main" val="2498842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-&gt; Questions?</a:t>
            </a:r>
          </a:p>
        </p:txBody>
      </p:sp>
      <p:sp>
        <p:nvSpPr>
          <p:cNvPr id="4" name="Slide Number Placeholder 3"/>
          <p:cNvSpPr>
            <a:spLocks noGrp="1"/>
          </p:cNvSpPr>
          <p:nvPr>
            <p:ph type="sldNum" sz="quarter" idx="5"/>
          </p:nvPr>
        </p:nvSpPr>
        <p:spPr/>
        <p:txBody>
          <a:bodyPr/>
          <a:lstStyle/>
          <a:p>
            <a:fld id="{9A18230D-6974-4A26-8365-62E356C4785F}" type="slidenum">
              <a:rPr lang="en-US" smtClean="0"/>
              <a:t>17</a:t>
            </a:fld>
            <a:endParaRPr lang="en-US"/>
          </a:p>
        </p:txBody>
      </p:sp>
    </p:spTree>
    <p:extLst>
      <p:ext uri="{BB962C8B-B14F-4D97-AF65-F5344CB8AC3E}">
        <p14:creationId xmlns:p14="http://schemas.microsoft.com/office/powerpoint/2010/main" val="36817785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0C216-ABBE-8D37-C37F-25FA8887FFC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852CE6F-A9AB-95E3-80B4-8B39C823C1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64872CC-F1D2-7C0B-7A91-5A7EA4E72DBD}"/>
              </a:ext>
            </a:extLst>
          </p:cNvPr>
          <p:cNvSpPr>
            <a:spLocks noGrp="1"/>
          </p:cNvSpPr>
          <p:nvPr>
            <p:ph type="dt" sz="half" idx="10"/>
          </p:nvPr>
        </p:nvSpPr>
        <p:spPr/>
        <p:txBody>
          <a:bodyPr/>
          <a:lstStyle/>
          <a:p>
            <a:fld id="{1C7CE9BF-C1FF-4E9B-97E6-64DC9D713536}" type="datetimeFigureOut">
              <a:rPr lang="en-US" smtClean="0"/>
              <a:t>5/1/2026</a:t>
            </a:fld>
            <a:endParaRPr lang="en-US"/>
          </a:p>
        </p:txBody>
      </p:sp>
      <p:sp>
        <p:nvSpPr>
          <p:cNvPr id="5" name="Footer Placeholder 4">
            <a:extLst>
              <a:ext uri="{FF2B5EF4-FFF2-40B4-BE49-F238E27FC236}">
                <a16:creationId xmlns:a16="http://schemas.microsoft.com/office/drawing/2014/main" id="{925D5788-5883-2A0C-8360-5479C99E0F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691AB2-C3DE-1CF3-CB19-650B7D48BDF2}"/>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4268001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44E2C8-0B2E-AE1A-1B12-F1A032C6AC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ACFF8B-A2F6-B385-2F04-9B0B9B95D4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54AA8E-0B26-049B-58E0-F05C6AE4EF20}"/>
              </a:ext>
            </a:extLst>
          </p:cNvPr>
          <p:cNvSpPr>
            <a:spLocks noGrp="1"/>
          </p:cNvSpPr>
          <p:nvPr>
            <p:ph type="dt" sz="half" idx="10"/>
          </p:nvPr>
        </p:nvSpPr>
        <p:spPr/>
        <p:txBody>
          <a:bodyPr/>
          <a:lstStyle/>
          <a:p>
            <a:fld id="{1C7CE9BF-C1FF-4E9B-97E6-64DC9D713536}" type="datetimeFigureOut">
              <a:rPr lang="en-US" smtClean="0"/>
              <a:t>5/1/2026</a:t>
            </a:fld>
            <a:endParaRPr lang="en-US"/>
          </a:p>
        </p:txBody>
      </p:sp>
      <p:sp>
        <p:nvSpPr>
          <p:cNvPr id="5" name="Footer Placeholder 4">
            <a:extLst>
              <a:ext uri="{FF2B5EF4-FFF2-40B4-BE49-F238E27FC236}">
                <a16:creationId xmlns:a16="http://schemas.microsoft.com/office/drawing/2014/main" id="{41360ED6-4D01-07D7-D5CA-A9E77491AD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D3BF3C-1B50-9F23-AA1F-FEFB196AB263}"/>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26455711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0299B5-76AD-49B9-D94A-D4D854A225D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8A59465-592E-3469-09C7-83341AD711B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7F5368-ED94-0E04-D4CB-59AC54E871D5}"/>
              </a:ext>
            </a:extLst>
          </p:cNvPr>
          <p:cNvSpPr>
            <a:spLocks noGrp="1"/>
          </p:cNvSpPr>
          <p:nvPr>
            <p:ph type="dt" sz="half" idx="10"/>
          </p:nvPr>
        </p:nvSpPr>
        <p:spPr/>
        <p:txBody>
          <a:bodyPr/>
          <a:lstStyle/>
          <a:p>
            <a:fld id="{1C7CE9BF-C1FF-4E9B-97E6-64DC9D713536}" type="datetimeFigureOut">
              <a:rPr lang="en-US" smtClean="0"/>
              <a:t>5/1/2026</a:t>
            </a:fld>
            <a:endParaRPr lang="en-US"/>
          </a:p>
        </p:txBody>
      </p:sp>
      <p:sp>
        <p:nvSpPr>
          <p:cNvPr id="5" name="Footer Placeholder 4">
            <a:extLst>
              <a:ext uri="{FF2B5EF4-FFF2-40B4-BE49-F238E27FC236}">
                <a16:creationId xmlns:a16="http://schemas.microsoft.com/office/drawing/2014/main" id="{2CC9EBC7-813C-56AB-1B4F-D101685B57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629E65-F8A8-465B-2C96-C88FF5CF4F88}"/>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9268732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98CB1-620A-7F66-25FF-6BA9B119141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BDEA27E-458A-DA83-D4A2-AC9308BCB7A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7A64CEB-A3B5-3DF1-A6A3-6B608B78E52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332356E-0F11-8BA0-1CE9-8FF5A705AC1D}"/>
              </a:ext>
            </a:extLst>
          </p:cNvPr>
          <p:cNvSpPr>
            <a:spLocks noGrp="1"/>
          </p:cNvSpPr>
          <p:nvPr>
            <p:ph type="dt" sz="half" idx="10"/>
          </p:nvPr>
        </p:nvSpPr>
        <p:spPr/>
        <p:txBody>
          <a:bodyPr/>
          <a:lstStyle/>
          <a:p>
            <a:fld id="{1C7CE9BF-C1FF-4E9B-97E6-64DC9D713536}" type="datetimeFigureOut">
              <a:rPr lang="en-US" smtClean="0"/>
              <a:t>5/1/2026</a:t>
            </a:fld>
            <a:endParaRPr lang="en-US"/>
          </a:p>
        </p:txBody>
      </p:sp>
      <p:sp>
        <p:nvSpPr>
          <p:cNvPr id="6" name="Footer Placeholder 5">
            <a:extLst>
              <a:ext uri="{FF2B5EF4-FFF2-40B4-BE49-F238E27FC236}">
                <a16:creationId xmlns:a16="http://schemas.microsoft.com/office/drawing/2014/main" id="{EF0BFB7C-7BF8-D014-9A28-B06A37534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7703084-C9BE-8D52-0281-D045BB44AE87}"/>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0330298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8F29A-5FE7-68F6-A4EC-B2B01801A6E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47907BD-5C81-BB53-3D87-AAD9E21FE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244F218-2DC6-B614-BDAD-9F071E0E240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0C5BD33-97A0-B226-D03D-1CB1BAE7A90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33A3587-ABB7-C036-0918-12B988957C6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034A55B-6364-E750-5F6A-AA174B98D00B}"/>
              </a:ext>
            </a:extLst>
          </p:cNvPr>
          <p:cNvSpPr>
            <a:spLocks noGrp="1"/>
          </p:cNvSpPr>
          <p:nvPr>
            <p:ph type="dt" sz="half" idx="10"/>
          </p:nvPr>
        </p:nvSpPr>
        <p:spPr/>
        <p:txBody>
          <a:bodyPr/>
          <a:lstStyle/>
          <a:p>
            <a:fld id="{1C7CE9BF-C1FF-4E9B-97E6-64DC9D713536}" type="datetimeFigureOut">
              <a:rPr lang="en-US" smtClean="0"/>
              <a:t>5/1/2026</a:t>
            </a:fld>
            <a:endParaRPr lang="en-US"/>
          </a:p>
        </p:txBody>
      </p:sp>
      <p:sp>
        <p:nvSpPr>
          <p:cNvPr id="8" name="Footer Placeholder 7">
            <a:extLst>
              <a:ext uri="{FF2B5EF4-FFF2-40B4-BE49-F238E27FC236}">
                <a16:creationId xmlns:a16="http://schemas.microsoft.com/office/drawing/2014/main" id="{34C4112F-FF48-E8A3-DD75-CA120589449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5453181-0B08-D91B-F8A2-0B2F5B3F6039}"/>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6083430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4125FC-85B2-C59F-0023-4EAB73518A1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7D9BB8B-ED93-EFD2-877A-A1E4645F41F6}"/>
              </a:ext>
            </a:extLst>
          </p:cNvPr>
          <p:cNvSpPr>
            <a:spLocks noGrp="1"/>
          </p:cNvSpPr>
          <p:nvPr>
            <p:ph type="dt" sz="half" idx="10"/>
          </p:nvPr>
        </p:nvSpPr>
        <p:spPr/>
        <p:txBody>
          <a:bodyPr/>
          <a:lstStyle/>
          <a:p>
            <a:fld id="{1C7CE9BF-C1FF-4E9B-97E6-64DC9D713536}" type="datetimeFigureOut">
              <a:rPr lang="en-US" smtClean="0"/>
              <a:t>5/1/2026</a:t>
            </a:fld>
            <a:endParaRPr lang="en-US"/>
          </a:p>
        </p:txBody>
      </p:sp>
      <p:sp>
        <p:nvSpPr>
          <p:cNvPr id="4" name="Footer Placeholder 3">
            <a:extLst>
              <a:ext uri="{FF2B5EF4-FFF2-40B4-BE49-F238E27FC236}">
                <a16:creationId xmlns:a16="http://schemas.microsoft.com/office/drawing/2014/main" id="{9EEEBBEB-3274-F051-24ED-6C279E206A0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FCB2CC1-FC26-7C29-1EF9-E5DAF118C532}"/>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8993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CA87221-40DF-B254-014C-6064FC68168F}"/>
              </a:ext>
            </a:extLst>
          </p:cNvPr>
          <p:cNvSpPr>
            <a:spLocks noGrp="1"/>
          </p:cNvSpPr>
          <p:nvPr>
            <p:ph type="dt" sz="half" idx="10"/>
          </p:nvPr>
        </p:nvSpPr>
        <p:spPr/>
        <p:txBody>
          <a:bodyPr/>
          <a:lstStyle/>
          <a:p>
            <a:fld id="{1C7CE9BF-C1FF-4E9B-97E6-64DC9D713536}" type="datetimeFigureOut">
              <a:rPr lang="en-US" smtClean="0"/>
              <a:t>5/1/2026</a:t>
            </a:fld>
            <a:endParaRPr lang="en-US"/>
          </a:p>
        </p:txBody>
      </p:sp>
      <p:sp>
        <p:nvSpPr>
          <p:cNvPr id="3" name="Footer Placeholder 2">
            <a:extLst>
              <a:ext uri="{FF2B5EF4-FFF2-40B4-BE49-F238E27FC236}">
                <a16:creationId xmlns:a16="http://schemas.microsoft.com/office/drawing/2014/main" id="{E0675CC4-15C9-03A3-C00E-A42D1449481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26C29B1-8BB2-6A6B-EB4C-A9D65BEB09D4}"/>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2486132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DB467-6A11-F334-427D-E22DCE715B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14BBCDB-D512-1142-D8EF-3DE5EF5D70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49D87F-59E6-B059-D467-6A311EC78C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4B726E6-755B-92C4-D6E4-6D1D6EB7B318}"/>
              </a:ext>
            </a:extLst>
          </p:cNvPr>
          <p:cNvSpPr>
            <a:spLocks noGrp="1"/>
          </p:cNvSpPr>
          <p:nvPr>
            <p:ph type="dt" sz="half" idx="10"/>
          </p:nvPr>
        </p:nvSpPr>
        <p:spPr/>
        <p:txBody>
          <a:bodyPr/>
          <a:lstStyle/>
          <a:p>
            <a:fld id="{1C7CE9BF-C1FF-4E9B-97E6-64DC9D713536}" type="datetimeFigureOut">
              <a:rPr lang="en-US" smtClean="0"/>
              <a:t>5/1/2026</a:t>
            </a:fld>
            <a:endParaRPr lang="en-US"/>
          </a:p>
        </p:txBody>
      </p:sp>
      <p:sp>
        <p:nvSpPr>
          <p:cNvPr id="6" name="Footer Placeholder 5">
            <a:extLst>
              <a:ext uri="{FF2B5EF4-FFF2-40B4-BE49-F238E27FC236}">
                <a16:creationId xmlns:a16="http://schemas.microsoft.com/office/drawing/2014/main" id="{F3F18F86-81AE-4CFE-BBBD-0BDC4DE420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730FEF-0EC0-20F4-8EB2-2E3F8F2FC94B}"/>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9950690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C9077-9256-21E1-0B7B-79320CFBDC7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5AA7BB4-190A-25CF-A156-A669049D63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C0DE329-E939-D274-978E-170926F76D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C581775-0D9F-2033-8EE3-EBC78BC23246}"/>
              </a:ext>
            </a:extLst>
          </p:cNvPr>
          <p:cNvSpPr>
            <a:spLocks noGrp="1"/>
          </p:cNvSpPr>
          <p:nvPr>
            <p:ph type="dt" sz="half" idx="10"/>
          </p:nvPr>
        </p:nvSpPr>
        <p:spPr/>
        <p:txBody>
          <a:bodyPr/>
          <a:lstStyle/>
          <a:p>
            <a:fld id="{1C7CE9BF-C1FF-4E9B-97E6-64DC9D713536}" type="datetimeFigureOut">
              <a:rPr lang="en-US" smtClean="0"/>
              <a:t>5/1/2026</a:t>
            </a:fld>
            <a:endParaRPr lang="en-US"/>
          </a:p>
        </p:txBody>
      </p:sp>
      <p:sp>
        <p:nvSpPr>
          <p:cNvPr id="6" name="Footer Placeholder 5">
            <a:extLst>
              <a:ext uri="{FF2B5EF4-FFF2-40B4-BE49-F238E27FC236}">
                <a16:creationId xmlns:a16="http://schemas.microsoft.com/office/drawing/2014/main" id="{17207C39-985B-54AE-3769-645FA8D101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95FB39-DC81-6B44-7319-01CF1B27D5F0}"/>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20636120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834D41-2500-2E5C-2288-6BE886B288E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EA5B3BC-1C37-C67D-C808-67CE5C7B8A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17D8EA1-8566-FB00-47E1-FC311D938F2F}"/>
              </a:ext>
            </a:extLst>
          </p:cNvPr>
          <p:cNvSpPr>
            <a:spLocks noGrp="1"/>
          </p:cNvSpPr>
          <p:nvPr>
            <p:ph type="dt" sz="half" idx="10"/>
          </p:nvPr>
        </p:nvSpPr>
        <p:spPr/>
        <p:txBody>
          <a:bodyPr/>
          <a:lstStyle/>
          <a:p>
            <a:fld id="{1C7CE9BF-C1FF-4E9B-97E6-64DC9D713536}" type="datetimeFigureOut">
              <a:rPr lang="en-US" smtClean="0"/>
              <a:t>5/1/2026</a:t>
            </a:fld>
            <a:endParaRPr lang="en-US"/>
          </a:p>
        </p:txBody>
      </p:sp>
      <p:sp>
        <p:nvSpPr>
          <p:cNvPr id="5" name="Footer Placeholder 4">
            <a:extLst>
              <a:ext uri="{FF2B5EF4-FFF2-40B4-BE49-F238E27FC236}">
                <a16:creationId xmlns:a16="http://schemas.microsoft.com/office/drawing/2014/main" id="{33EAE053-908E-06A1-A181-6EA9BA9968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3F75B1-6C5A-3B29-B885-72B055FABE37}"/>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26424785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3C91304-5035-8EA7-2E90-EC77AC38EBD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B66595E-7A79-B24B-65DC-8B95D1A8DC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C358C42-47AC-6903-F607-2C03B414540C}"/>
              </a:ext>
            </a:extLst>
          </p:cNvPr>
          <p:cNvSpPr>
            <a:spLocks noGrp="1"/>
          </p:cNvSpPr>
          <p:nvPr>
            <p:ph type="dt" sz="half" idx="10"/>
          </p:nvPr>
        </p:nvSpPr>
        <p:spPr/>
        <p:txBody>
          <a:bodyPr/>
          <a:lstStyle/>
          <a:p>
            <a:fld id="{1C7CE9BF-C1FF-4E9B-97E6-64DC9D713536}" type="datetimeFigureOut">
              <a:rPr lang="en-US" smtClean="0"/>
              <a:t>5/1/2026</a:t>
            </a:fld>
            <a:endParaRPr lang="en-US"/>
          </a:p>
        </p:txBody>
      </p:sp>
      <p:sp>
        <p:nvSpPr>
          <p:cNvPr id="5" name="Footer Placeholder 4">
            <a:extLst>
              <a:ext uri="{FF2B5EF4-FFF2-40B4-BE49-F238E27FC236}">
                <a16:creationId xmlns:a16="http://schemas.microsoft.com/office/drawing/2014/main" id="{B0EB6995-43EC-238A-BBEB-C6B07C43C52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5DEB165-A31A-DD4B-D40C-606AECCFC34E}"/>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693219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70ADA6-0734-B067-AF29-E08B42765F0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9BAA16-CA26-B566-E2A9-117A51F5E56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7A82CD-C538-C082-32C7-5E105A33025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C7CE9BF-C1FF-4E9B-97E6-64DC9D713536}" type="datetimeFigureOut">
              <a:rPr lang="en-US" smtClean="0"/>
              <a:t>5/1/2026</a:t>
            </a:fld>
            <a:endParaRPr lang="en-US"/>
          </a:p>
        </p:txBody>
      </p:sp>
      <p:sp>
        <p:nvSpPr>
          <p:cNvPr id="5" name="Footer Placeholder 4">
            <a:extLst>
              <a:ext uri="{FF2B5EF4-FFF2-40B4-BE49-F238E27FC236}">
                <a16:creationId xmlns:a16="http://schemas.microsoft.com/office/drawing/2014/main" id="{7CE6291B-6194-83AE-28FF-5C4A87F14A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F6377A-8865-AD24-0532-0C196522107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FD438EA-64AA-4ADE-A3AB-D3AB0A7C0E5A}" type="slidenum">
              <a:rPr lang="en-US" smtClean="0"/>
              <a:t>‹#›</a:t>
            </a:fld>
            <a:endParaRPr lang="en-US"/>
          </a:p>
        </p:txBody>
      </p:sp>
    </p:spTree>
    <p:extLst>
      <p:ext uri="{BB962C8B-B14F-4D97-AF65-F5344CB8AC3E}">
        <p14:creationId xmlns:p14="http://schemas.microsoft.com/office/powerpoint/2010/main" val="171289515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4.xml"/><Relationship Id="rId1" Type="http://schemas.openxmlformats.org/officeDocument/2006/relationships/themeOverride" Target="../theme/themeOverride1.xml"/><Relationship Id="rId5" Type="http://schemas.openxmlformats.org/officeDocument/2006/relationships/image" Target="../media/image4.png"/><Relationship Id="rId4" Type="http://schemas.openxmlformats.org/officeDocument/2006/relationships/image" Target="../media/image1.jpg"/></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data.iowa.gov/Sales-Distribution/2014-Iowa-Liquor-Sales/3m8f-uw4f/about_data"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hyperlink" Target="https://chat.openai.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8555C5B3-193A-4749-9AFD-682E53CDDE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2EAE06A6-F76A-41C9-827A-C561B00448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89F9D4E8-0639-444B-949B-951858506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7E3DA7A2-ED70-4BBA-AB72-00AD461FA4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66255CA-1320-E4CB-5684-B5DC954D7862}"/>
              </a:ext>
            </a:extLst>
          </p:cNvPr>
          <p:cNvSpPr>
            <a:spLocks noGrp="1"/>
          </p:cNvSpPr>
          <p:nvPr>
            <p:ph type="ctrTitle"/>
          </p:nvPr>
        </p:nvSpPr>
        <p:spPr>
          <a:xfrm>
            <a:off x="1127208" y="857251"/>
            <a:ext cx="4747280" cy="3098061"/>
          </a:xfrm>
        </p:spPr>
        <p:txBody>
          <a:bodyPr anchor="b">
            <a:normAutofit/>
          </a:bodyPr>
          <a:lstStyle/>
          <a:p>
            <a:pPr algn="l"/>
            <a:r>
              <a:rPr lang="en-US" sz="4800">
                <a:solidFill>
                  <a:srgbClr val="FFFFFF"/>
                </a:solidFill>
              </a:rPr>
              <a:t>Constellation Brands</a:t>
            </a:r>
          </a:p>
        </p:txBody>
      </p:sp>
      <p:sp>
        <p:nvSpPr>
          <p:cNvPr id="22" name="Rectangle 21">
            <a:extLst>
              <a:ext uri="{FF2B5EF4-FFF2-40B4-BE49-F238E27FC236}">
                <a16:creationId xmlns:a16="http://schemas.microsoft.com/office/drawing/2014/main" id="{FC485432-3647-4218-B5D3-15D3FA222B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C44DC2AA-2A7F-FEC9-1B2C-1D3647D40038}"/>
              </a:ext>
            </a:extLst>
          </p:cNvPr>
          <p:cNvSpPr>
            <a:spLocks noGrp="1"/>
          </p:cNvSpPr>
          <p:nvPr>
            <p:ph type="subTitle" idx="1"/>
          </p:nvPr>
        </p:nvSpPr>
        <p:spPr>
          <a:xfrm>
            <a:off x="1127208" y="4756265"/>
            <a:ext cx="4393278" cy="1244483"/>
          </a:xfrm>
        </p:spPr>
        <p:txBody>
          <a:bodyPr anchor="t">
            <a:normAutofit/>
          </a:bodyPr>
          <a:lstStyle/>
          <a:p>
            <a:pPr algn="l"/>
            <a:r>
              <a:rPr lang="en-US" sz="1300">
                <a:solidFill>
                  <a:srgbClr val="FFFFFF"/>
                </a:solidFill>
              </a:rPr>
              <a:t>2014 Iowa Liquor Sales Analysis</a:t>
            </a:r>
          </a:p>
          <a:p>
            <a:pPr algn="l"/>
            <a:r>
              <a:rPr lang="en-US" sz="1300">
                <a:solidFill>
                  <a:srgbClr val="FFFFFF"/>
                </a:solidFill>
              </a:rPr>
              <a:t>Pham, Longley</a:t>
            </a:r>
          </a:p>
          <a:p>
            <a:pPr algn="l"/>
            <a:r>
              <a:rPr lang="en-US" sz="1300">
                <a:solidFill>
                  <a:srgbClr val="FFFFFF"/>
                </a:solidFill>
              </a:rPr>
              <a:t>Year Up United – Data Academy</a:t>
            </a:r>
          </a:p>
          <a:p>
            <a:pPr algn="l"/>
            <a:r>
              <a:rPr lang="en-US" sz="1300">
                <a:solidFill>
                  <a:srgbClr val="FFFFFF"/>
                </a:solidFill>
              </a:rPr>
              <a:t>Capstone 1</a:t>
            </a:r>
          </a:p>
        </p:txBody>
      </p:sp>
      <p:sp>
        <p:nvSpPr>
          <p:cNvPr id="24" name="Oval 23">
            <a:extLst>
              <a:ext uri="{FF2B5EF4-FFF2-40B4-BE49-F238E27FC236}">
                <a16:creationId xmlns:a16="http://schemas.microsoft.com/office/drawing/2014/main" id="{F4AFDDCA-6ABA-4D23-8A5C-1BF0F4308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35214212-7631-C026-FD63-B5C279DCEF37}"/>
              </a:ext>
            </a:extLst>
          </p:cNvPr>
          <p:cNvPicPr>
            <a:picLocks noChangeAspect="1"/>
          </p:cNvPicPr>
          <p:nvPr/>
        </p:nvPicPr>
        <p:blipFill>
          <a:blip r:embed="rId3">
            <a:extLst>
              <a:ext uri="{28A0092B-C50C-407E-A947-70E740481C1C}">
                <a14:useLocalDpi xmlns:a14="http://schemas.microsoft.com/office/drawing/2010/main" val="0"/>
              </a:ext>
            </a:extLst>
          </a:blip>
          <a:srcRect t="7812" b="7812"/>
          <a:stretch/>
        </p:blipFill>
        <p:spPr>
          <a:xfrm>
            <a:off x="6915078" y="2298496"/>
            <a:ext cx="3707184" cy="2261002"/>
          </a:xfrm>
          <a:prstGeom prst="rect">
            <a:avLst/>
          </a:prstGeom>
        </p:spPr>
      </p:pic>
    </p:spTree>
    <p:extLst>
      <p:ext uri="{BB962C8B-B14F-4D97-AF65-F5344CB8AC3E}">
        <p14:creationId xmlns:p14="http://schemas.microsoft.com/office/powerpoint/2010/main" val="2720321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F32740-F662-BCD9-5E98-135BDC2BBE9F}"/>
              </a:ext>
            </a:extLst>
          </p:cNvPr>
          <p:cNvSpPr>
            <a:spLocks noGrp="1"/>
          </p:cNvSpPr>
          <p:nvPr>
            <p:ph type="title"/>
          </p:nvPr>
        </p:nvSpPr>
        <p:spPr>
          <a:xfrm>
            <a:off x="1136397" y="502020"/>
            <a:ext cx="5323715" cy="1642970"/>
          </a:xfrm>
        </p:spPr>
        <p:txBody>
          <a:bodyPr vert="horz" lIns="91440" tIns="45720" rIns="91440" bIns="45720" rtlCol="0" anchor="b">
            <a:normAutofit/>
          </a:bodyPr>
          <a:lstStyle/>
          <a:p>
            <a:r>
              <a:rPr lang="en-US" sz="4000" kern="1200">
                <a:solidFill>
                  <a:schemeClr val="tx1"/>
                </a:solidFill>
                <a:latin typeface="+mj-lt"/>
                <a:ea typeface="+mj-ea"/>
                <a:cs typeface="+mj-cs"/>
              </a:rPr>
              <a:t>Scenario</a:t>
            </a:r>
          </a:p>
        </p:txBody>
      </p:sp>
      <p:sp>
        <p:nvSpPr>
          <p:cNvPr id="3" name="Content Placeholder 2">
            <a:extLst>
              <a:ext uri="{FF2B5EF4-FFF2-40B4-BE49-F238E27FC236}">
                <a16:creationId xmlns:a16="http://schemas.microsoft.com/office/drawing/2014/main" id="{DEC6ED37-AF01-E906-5F3A-EEB9B5127614}"/>
              </a:ext>
            </a:extLst>
          </p:cNvPr>
          <p:cNvSpPr>
            <a:spLocks noGrp="1"/>
          </p:cNvSpPr>
          <p:nvPr>
            <p:ph sz="half" idx="1"/>
          </p:nvPr>
        </p:nvSpPr>
        <p:spPr>
          <a:xfrm>
            <a:off x="1144923" y="2405894"/>
            <a:ext cx="5315189" cy="3535083"/>
          </a:xfrm>
        </p:spPr>
        <p:txBody>
          <a:bodyPr vert="horz" lIns="91440" tIns="45720" rIns="91440" bIns="45720" rtlCol="0" anchor="t">
            <a:normAutofit/>
          </a:bodyPr>
          <a:lstStyle/>
          <a:p>
            <a:pPr marL="0"/>
            <a:r>
              <a:rPr lang="en-US" sz="2000" dirty="0"/>
              <a:t>You have been brought on as a data consultant by Constellation Brands to analyze sales performance using the Iowa Liquor Sales database.</a:t>
            </a:r>
          </a:p>
          <a:p>
            <a:pPr marL="0"/>
            <a:r>
              <a:rPr lang="en-US" sz="2000" dirty="0"/>
              <a:t>The company wants to better understand how it performed during that year across different markets to inform future strategy.</a:t>
            </a:r>
          </a:p>
        </p:txBody>
      </p:sp>
      <p:sp>
        <p:nvSpPr>
          <p:cNvPr id="13" name="Rectangle 12">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Content Placeholder 5">
            <a:extLst>
              <a:ext uri="{FF2B5EF4-FFF2-40B4-BE49-F238E27FC236}">
                <a16:creationId xmlns:a16="http://schemas.microsoft.com/office/drawing/2014/main" id="{61726302-CF36-FBBD-4B17-69282DF882EC}"/>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7075967" y="1359681"/>
            <a:ext cx="4170530" cy="4170530"/>
          </a:xfrm>
          <a:prstGeom prst="rect">
            <a:avLst/>
          </a:prstGeom>
        </p:spPr>
      </p:pic>
    </p:spTree>
    <p:extLst>
      <p:ext uri="{BB962C8B-B14F-4D97-AF65-F5344CB8AC3E}">
        <p14:creationId xmlns:p14="http://schemas.microsoft.com/office/powerpoint/2010/main" val="27079766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21E1969-70DA-6CBA-2E14-DA01BA826045}"/>
              </a:ext>
            </a:extLst>
          </p:cNvPr>
          <p:cNvSpPr>
            <a:spLocks noGrp="1"/>
          </p:cNvSpPr>
          <p:nvPr>
            <p:ph type="title"/>
          </p:nvPr>
        </p:nvSpPr>
        <p:spPr>
          <a:xfrm>
            <a:off x="1136397" y="502020"/>
            <a:ext cx="5323715" cy="1642970"/>
          </a:xfrm>
        </p:spPr>
        <p:txBody>
          <a:bodyPr vert="horz" lIns="91440" tIns="45720" rIns="91440" bIns="45720" rtlCol="0" anchor="b">
            <a:normAutofit/>
          </a:bodyPr>
          <a:lstStyle/>
          <a:p>
            <a:r>
              <a:rPr lang="en-US" sz="4000" kern="1200">
                <a:solidFill>
                  <a:schemeClr val="tx1"/>
                </a:solidFill>
                <a:latin typeface="+mj-lt"/>
                <a:ea typeface="+mj-ea"/>
                <a:cs typeface="+mj-cs"/>
              </a:rPr>
              <a:t>Agenda</a:t>
            </a:r>
          </a:p>
        </p:txBody>
      </p:sp>
      <p:sp>
        <p:nvSpPr>
          <p:cNvPr id="3" name="Content Placeholder 2">
            <a:extLst>
              <a:ext uri="{FF2B5EF4-FFF2-40B4-BE49-F238E27FC236}">
                <a16:creationId xmlns:a16="http://schemas.microsoft.com/office/drawing/2014/main" id="{8358E2B4-AAFA-FF16-67E3-B6DF3AF954F3}"/>
              </a:ext>
            </a:extLst>
          </p:cNvPr>
          <p:cNvSpPr>
            <a:spLocks noGrp="1"/>
          </p:cNvSpPr>
          <p:nvPr>
            <p:ph sz="half" idx="1"/>
          </p:nvPr>
        </p:nvSpPr>
        <p:spPr>
          <a:xfrm>
            <a:off x="1144923" y="2405894"/>
            <a:ext cx="5315189" cy="3535083"/>
          </a:xfrm>
        </p:spPr>
        <p:txBody>
          <a:bodyPr vert="horz" lIns="91440" tIns="45720" rIns="91440" bIns="45720" rtlCol="0" anchor="t">
            <a:normAutofit/>
          </a:bodyPr>
          <a:lstStyle/>
          <a:p>
            <a:pPr marL="285750"/>
            <a:r>
              <a:rPr lang="en-US" sz="2000"/>
              <a:t>Overview</a:t>
            </a:r>
          </a:p>
          <a:p>
            <a:pPr marL="285750"/>
            <a:r>
              <a:rPr lang="en-US" sz="2000"/>
              <a:t>County Analysis</a:t>
            </a:r>
          </a:p>
          <a:p>
            <a:pPr marL="285750"/>
            <a:r>
              <a:rPr lang="en-US" sz="2000"/>
              <a:t>Black Velvet</a:t>
            </a:r>
          </a:p>
          <a:p>
            <a:pPr marL="285750"/>
            <a:r>
              <a:rPr lang="en-US" sz="2000"/>
              <a:t>Tequila Industry</a:t>
            </a:r>
          </a:p>
          <a:p>
            <a:pPr marL="285750"/>
            <a:r>
              <a:rPr lang="en-US" sz="2000"/>
              <a:t>Competitors</a:t>
            </a:r>
          </a:p>
          <a:p>
            <a:pPr marL="285750"/>
            <a:r>
              <a:rPr lang="en-US" sz="2000"/>
              <a:t>Key Takeaways</a:t>
            </a:r>
          </a:p>
        </p:txBody>
      </p:sp>
      <p:sp>
        <p:nvSpPr>
          <p:cNvPr id="13" name="Rectangle 12">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Content Placeholder 5">
            <a:extLst>
              <a:ext uri="{FF2B5EF4-FFF2-40B4-BE49-F238E27FC236}">
                <a16:creationId xmlns:a16="http://schemas.microsoft.com/office/drawing/2014/main" id="{ADF2BBCE-2767-728F-15CA-7A0CBCD9B09D}"/>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7075967" y="2053032"/>
            <a:ext cx="4170530" cy="2783828"/>
          </a:xfrm>
          <a:prstGeom prst="rect">
            <a:avLst/>
          </a:prstGeom>
        </p:spPr>
      </p:pic>
    </p:spTree>
    <p:extLst>
      <p:ext uri="{BB962C8B-B14F-4D97-AF65-F5344CB8AC3E}">
        <p14:creationId xmlns:p14="http://schemas.microsoft.com/office/powerpoint/2010/main" val="31197123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E218537-E472-8EB1-74F4-698C93711D74}"/>
              </a:ext>
            </a:extLst>
          </p:cNvPr>
          <p:cNvSpPr>
            <a:spLocks noGrp="1"/>
          </p:cNvSpPr>
          <p:nvPr>
            <p:ph type="title"/>
          </p:nvPr>
        </p:nvSpPr>
        <p:spPr>
          <a:xfrm>
            <a:off x="826396" y="586855"/>
            <a:ext cx="4230100" cy="3387497"/>
          </a:xfrm>
        </p:spPr>
        <p:txBody>
          <a:bodyPr anchor="b">
            <a:normAutofit/>
          </a:bodyPr>
          <a:lstStyle/>
          <a:p>
            <a:pPr algn="r"/>
            <a:r>
              <a:rPr lang="en-US" sz="4000">
                <a:solidFill>
                  <a:srgbClr val="FFFFFF"/>
                </a:solidFill>
              </a:rPr>
              <a:t>Annual Snapshot</a:t>
            </a:r>
          </a:p>
        </p:txBody>
      </p:sp>
      <p:sp>
        <p:nvSpPr>
          <p:cNvPr id="3" name="Content Placeholder 2">
            <a:extLst>
              <a:ext uri="{FF2B5EF4-FFF2-40B4-BE49-F238E27FC236}">
                <a16:creationId xmlns:a16="http://schemas.microsoft.com/office/drawing/2014/main" id="{D4CDF3C9-C4DB-FA1A-52F3-3D152FAAFF19}"/>
              </a:ext>
            </a:extLst>
          </p:cNvPr>
          <p:cNvSpPr>
            <a:spLocks noGrp="1"/>
          </p:cNvSpPr>
          <p:nvPr>
            <p:ph idx="1"/>
          </p:nvPr>
        </p:nvSpPr>
        <p:spPr>
          <a:xfrm>
            <a:off x="6503158" y="649480"/>
            <a:ext cx="4862447" cy="5546047"/>
          </a:xfrm>
        </p:spPr>
        <p:txBody>
          <a:bodyPr anchor="ctr">
            <a:normAutofit/>
          </a:bodyPr>
          <a:lstStyle/>
          <a:p>
            <a:r>
              <a:rPr lang="en-US" sz="2000" dirty="0"/>
              <a:t>2014 Fiscal Year</a:t>
            </a:r>
          </a:p>
          <a:p>
            <a:pPr lvl="1"/>
            <a:r>
              <a:rPr lang="en-US" sz="1600" dirty="0"/>
              <a:t>Jan 1, 2014 – Dec 31, 2014</a:t>
            </a:r>
          </a:p>
          <a:p>
            <a:r>
              <a:rPr lang="en-US" sz="2000" dirty="0"/>
              <a:t>155,408 Constellation-related transactions</a:t>
            </a:r>
          </a:p>
          <a:p>
            <a:r>
              <a:rPr lang="en-US" sz="2000" dirty="0"/>
              <a:t>Spirits market dominant</a:t>
            </a:r>
          </a:p>
          <a:p>
            <a:pPr lvl="1"/>
            <a:r>
              <a:rPr lang="en-US" sz="2000" dirty="0"/>
              <a:t>100% coverage across 99 counties</a:t>
            </a:r>
          </a:p>
          <a:p>
            <a:r>
              <a:rPr lang="en-US" sz="2000" dirty="0"/>
              <a:t>Total Revenue: $23.49M</a:t>
            </a:r>
          </a:p>
        </p:txBody>
      </p:sp>
    </p:spTree>
    <p:extLst>
      <p:ext uri="{BB962C8B-B14F-4D97-AF65-F5344CB8AC3E}">
        <p14:creationId xmlns:p14="http://schemas.microsoft.com/office/powerpoint/2010/main" val="34840045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DF5263-62CC-3990-2726-A93E0B44369F}"/>
              </a:ext>
            </a:extLst>
          </p:cNvPr>
          <p:cNvSpPr>
            <a:spLocks noGrp="1"/>
          </p:cNvSpPr>
          <p:nvPr>
            <p:ph type="title"/>
          </p:nvPr>
        </p:nvSpPr>
        <p:spPr>
          <a:xfrm>
            <a:off x="1136397" y="502021"/>
            <a:ext cx="4959603" cy="1642969"/>
          </a:xfrm>
        </p:spPr>
        <p:txBody>
          <a:bodyPr vert="horz" lIns="91440" tIns="45720" rIns="91440" bIns="45720" rtlCol="0" anchor="b">
            <a:normAutofit/>
          </a:bodyPr>
          <a:lstStyle/>
          <a:p>
            <a:r>
              <a:rPr lang="en-US" sz="4000" kern="1200">
                <a:solidFill>
                  <a:schemeClr val="tx1"/>
                </a:solidFill>
                <a:latin typeface="+mj-lt"/>
                <a:ea typeface="+mj-ea"/>
                <a:cs typeface="+mj-cs"/>
              </a:rPr>
              <a:t>Geographical Analysis</a:t>
            </a:r>
          </a:p>
        </p:txBody>
      </p:sp>
      <p:sp>
        <p:nvSpPr>
          <p:cNvPr id="4" name="Content Placeholder 3">
            <a:extLst>
              <a:ext uri="{FF2B5EF4-FFF2-40B4-BE49-F238E27FC236}">
                <a16:creationId xmlns:a16="http://schemas.microsoft.com/office/drawing/2014/main" id="{6CF8047B-50AD-0D8C-4276-AD89AAC27248}"/>
              </a:ext>
            </a:extLst>
          </p:cNvPr>
          <p:cNvSpPr>
            <a:spLocks noGrp="1"/>
          </p:cNvSpPr>
          <p:nvPr>
            <p:ph sz="half" idx="2"/>
          </p:nvPr>
        </p:nvSpPr>
        <p:spPr>
          <a:xfrm>
            <a:off x="1136397" y="2418408"/>
            <a:ext cx="4959603" cy="3522569"/>
          </a:xfrm>
        </p:spPr>
        <p:txBody>
          <a:bodyPr vert="horz" lIns="91440" tIns="45720" rIns="91440" bIns="45720" rtlCol="0" anchor="t">
            <a:normAutofit/>
          </a:bodyPr>
          <a:lstStyle/>
          <a:p>
            <a:r>
              <a:rPr lang="en-US" sz="2000"/>
              <a:t>Annual Revenue</a:t>
            </a:r>
          </a:p>
          <a:p>
            <a:r>
              <a:rPr lang="en-US" sz="2000"/>
              <a:t>Top 3 earners</a:t>
            </a:r>
          </a:p>
          <a:p>
            <a:pPr lvl="1"/>
            <a:r>
              <a:rPr lang="en-US" sz="2000"/>
              <a:t>Polk, Linn, Black Hawk</a:t>
            </a:r>
          </a:p>
          <a:p>
            <a:pPr lvl="1"/>
            <a:r>
              <a:rPr lang="en-US" sz="2000"/>
              <a:t>Over $1M in revenue</a:t>
            </a:r>
          </a:p>
          <a:p>
            <a:pPr lvl="1"/>
            <a:r>
              <a:rPr lang="en-US" sz="2000"/>
              <a:t>Polk: $3.73M</a:t>
            </a:r>
          </a:p>
          <a:p>
            <a:r>
              <a:rPr lang="en-US" sz="2000"/>
              <a:t>Top 3 Stragglers</a:t>
            </a:r>
          </a:p>
          <a:p>
            <a:pPr lvl="1"/>
            <a:r>
              <a:rPr lang="en-US" sz="2000"/>
              <a:t>Keokuk, Hancock, Mills</a:t>
            </a:r>
          </a:p>
          <a:p>
            <a:pPr lvl="1"/>
            <a:r>
              <a:rPr lang="en-US" sz="2000"/>
              <a:t>Keokuk: $22K</a:t>
            </a:r>
          </a:p>
        </p:txBody>
      </p:sp>
      <p:sp>
        <p:nvSpPr>
          <p:cNvPr id="16" name="Rectangle 15">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5FB93635-4EE4-5B6B-34C2-CBDB04210800}"/>
              </a:ext>
            </a:extLst>
          </p:cNvPr>
          <p:cNvGrpSpPr/>
          <p:nvPr/>
        </p:nvGrpSpPr>
        <p:grpSpPr>
          <a:xfrm>
            <a:off x="6512442" y="1377279"/>
            <a:ext cx="5201023" cy="3689684"/>
            <a:chOff x="1032140" y="2485592"/>
            <a:chExt cx="4793719" cy="3400736"/>
          </a:xfrm>
        </p:grpSpPr>
        <p:pic>
          <p:nvPicPr>
            <p:cNvPr id="6" name="Content Placeholder 5">
              <a:extLst>
                <a:ext uri="{FF2B5EF4-FFF2-40B4-BE49-F238E27FC236}">
                  <a16:creationId xmlns:a16="http://schemas.microsoft.com/office/drawing/2014/main" id="{2E4F7789-BB88-F7C4-B006-B403476CC22D}"/>
                </a:ext>
              </a:extLst>
            </p:cNvPr>
            <p:cNvPicPr>
              <a:picLocks noGrp="1" noChangeAspect="1"/>
            </p:cNvPicPr>
            <p:nvPr>
              <p:ph sz="half" idx="1"/>
            </p:nvPr>
          </p:nvPicPr>
          <p:blipFill>
            <a:blip r:embed="rId3">
              <a:extLst>
                <a:ext uri="{28A0092B-C50C-407E-A947-70E740481C1C}">
                  <a14:useLocalDpi xmlns:a14="http://schemas.microsoft.com/office/drawing/2010/main" val="0"/>
                </a:ext>
              </a:extLst>
            </a:blip>
            <a:srcRect/>
            <a:stretch/>
          </p:blipFill>
          <p:spPr>
            <a:xfrm>
              <a:off x="1032140" y="2485592"/>
              <a:ext cx="4793719" cy="3031404"/>
            </a:xfrm>
            <a:prstGeom prst="rect">
              <a:avLst/>
            </a:prstGeom>
          </p:spPr>
        </p:pic>
        <p:sp>
          <p:nvSpPr>
            <p:cNvPr id="7" name="TextBox 6">
              <a:extLst>
                <a:ext uri="{FF2B5EF4-FFF2-40B4-BE49-F238E27FC236}">
                  <a16:creationId xmlns:a16="http://schemas.microsoft.com/office/drawing/2014/main" id="{3D8EF388-B032-EDB6-B7D8-1F716938F817}"/>
                </a:ext>
              </a:extLst>
            </p:cNvPr>
            <p:cNvSpPr txBox="1">
              <a:spLocks/>
            </p:cNvSpPr>
            <p:nvPr/>
          </p:nvSpPr>
          <p:spPr>
            <a:xfrm>
              <a:off x="1471636" y="5516996"/>
              <a:ext cx="3914726" cy="369332"/>
            </a:xfrm>
            <a:prstGeom prst="rect">
              <a:avLst/>
            </a:prstGeom>
            <a:noFill/>
          </p:spPr>
          <p:txBody>
            <a:bodyPr wrap="none" rtlCol="0">
              <a:spAutoFit/>
            </a:bodyPr>
            <a:lstStyle/>
            <a:p>
              <a:pPr defTabSz="987552">
                <a:spcAft>
                  <a:spcPts val="600"/>
                </a:spcAft>
              </a:pPr>
              <a:r>
                <a:rPr lang="en-US" sz="1944" kern="1200">
                  <a:solidFill>
                    <a:schemeClr val="tx1"/>
                  </a:solidFill>
                  <a:latin typeface="+mn-lt"/>
                  <a:ea typeface="+mn-ea"/>
                  <a:cs typeface="+mn-cs"/>
                </a:rPr>
                <a:t>Figure 1: Annual Revenue by Counties</a:t>
              </a:r>
              <a:endParaRPr lang="en-US"/>
            </a:p>
          </p:txBody>
        </p:sp>
      </p:grpSp>
    </p:spTree>
    <p:extLst>
      <p:ext uri="{BB962C8B-B14F-4D97-AF65-F5344CB8AC3E}">
        <p14:creationId xmlns:p14="http://schemas.microsoft.com/office/powerpoint/2010/main" val="41940347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4">
            <a:alphaModFix amt="15000"/>
            <a:lum/>
          </a:blip>
          <a:srcRect/>
          <a:stretch>
            <a:fillRect/>
          </a:stretch>
        </a:blipFill>
        <a:effectLst/>
      </p:bgPr>
    </p:bg>
    <p:spTree>
      <p:nvGrpSpPr>
        <p:cNvPr id="1" name="">
          <a:extLst>
            <a:ext uri="{FF2B5EF4-FFF2-40B4-BE49-F238E27FC236}">
              <a16:creationId xmlns:a16="http://schemas.microsoft.com/office/drawing/2014/main" id="{35B8D5A2-0804-0EAE-5003-B6D43B3288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8EE88B-1CC0-8772-B14F-BA93D6E9F3E0}"/>
              </a:ext>
            </a:extLst>
          </p:cNvPr>
          <p:cNvSpPr>
            <a:spLocks noGrp="1"/>
          </p:cNvSpPr>
          <p:nvPr>
            <p:ph type="title"/>
          </p:nvPr>
        </p:nvSpPr>
        <p:spPr/>
        <p:txBody>
          <a:bodyPr/>
          <a:lstStyle/>
          <a:p>
            <a:r>
              <a:rPr lang="en-US"/>
              <a:t>Geographical Analysis (Cont.)</a:t>
            </a:r>
            <a:endParaRPr lang="en-US" dirty="0"/>
          </a:p>
        </p:txBody>
      </p:sp>
      <p:sp>
        <p:nvSpPr>
          <p:cNvPr id="3" name="Content Placeholder 2">
            <a:extLst>
              <a:ext uri="{FF2B5EF4-FFF2-40B4-BE49-F238E27FC236}">
                <a16:creationId xmlns:a16="http://schemas.microsoft.com/office/drawing/2014/main" id="{63FEE377-8DA5-E1AF-C347-8A931990D51D}"/>
              </a:ext>
            </a:extLst>
          </p:cNvPr>
          <p:cNvSpPr>
            <a:spLocks noGrp="1"/>
          </p:cNvSpPr>
          <p:nvPr>
            <p:ph sz="half" idx="1"/>
          </p:nvPr>
        </p:nvSpPr>
        <p:spPr/>
        <p:txBody>
          <a:bodyPr/>
          <a:lstStyle/>
          <a:p>
            <a:r>
              <a:rPr lang="en-US" dirty="0"/>
              <a:t>Revenue per Capita</a:t>
            </a:r>
          </a:p>
          <a:p>
            <a:r>
              <a:rPr lang="en-US" dirty="0"/>
              <a:t>Top 3 earners</a:t>
            </a:r>
          </a:p>
          <a:p>
            <a:pPr lvl="1"/>
            <a:r>
              <a:rPr lang="en-US" dirty="0"/>
              <a:t>Dickinson, O’Brien, and Carroll</a:t>
            </a:r>
          </a:p>
          <a:p>
            <a:pPr lvl="1"/>
            <a:r>
              <a:rPr lang="en-US" dirty="0"/>
              <a:t>Dickinson: $19.78 per capita</a:t>
            </a:r>
          </a:p>
          <a:p>
            <a:r>
              <a:rPr lang="en-US" dirty="0"/>
              <a:t>Polk, Linn, Black Hawk dropped down</a:t>
            </a:r>
          </a:p>
          <a:p>
            <a:pPr lvl="1"/>
            <a:r>
              <a:rPr lang="en-US" dirty="0"/>
              <a:t>26</a:t>
            </a:r>
            <a:r>
              <a:rPr lang="en-US" baseline="30000" dirty="0"/>
              <a:t>th</a:t>
            </a:r>
            <a:r>
              <a:rPr lang="en-US" dirty="0"/>
              <a:t>, 23</a:t>
            </a:r>
            <a:r>
              <a:rPr lang="en-US" baseline="30000" dirty="0"/>
              <a:t>rd</a:t>
            </a:r>
            <a:r>
              <a:rPr lang="en-US" dirty="0"/>
              <a:t>, and 9</a:t>
            </a:r>
            <a:r>
              <a:rPr lang="en-US" baseline="30000" dirty="0"/>
              <a:t>th</a:t>
            </a:r>
            <a:r>
              <a:rPr lang="en-US" dirty="0"/>
              <a:t> respectively</a:t>
            </a:r>
          </a:p>
        </p:txBody>
      </p:sp>
      <p:pic>
        <p:nvPicPr>
          <p:cNvPr id="6" name="Content Placeholder 5">
            <a:extLst>
              <a:ext uri="{FF2B5EF4-FFF2-40B4-BE49-F238E27FC236}">
                <a16:creationId xmlns:a16="http://schemas.microsoft.com/office/drawing/2014/main" id="{8B15C579-7DA5-5D3D-8446-7C762EF1FB8F}"/>
              </a:ext>
            </a:extLst>
          </p:cNvPr>
          <p:cNvPicPr>
            <a:picLocks noGrp="1" noChangeAspect="1"/>
          </p:cNvPicPr>
          <p:nvPr>
            <p:ph sz="half" idx="2"/>
          </p:nvPr>
        </p:nvPicPr>
        <p:blipFill>
          <a:blip r:embed="rId5">
            <a:extLst>
              <a:ext uri="{28A0092B-C50C-407E-A947-70E740481C1C}">
                <a14:useLocalDpi xmlns:a14="http://schemas.microsoft.com/office/drawing/2010/main" val="0"/>
              </a:ext>
            </a:extLst>
          </a:blip>
          <a:stretch/>
        </p:blipFill>
        <p:spPr>
          <a:xfrm>
            <a:off x="6367526" y="1825625"/>
            <a:ext cx="4790948" cy="2845751"/>
          </a:xfrm>
          <a:prstGeom prst="rect">
            <a:avLst/>
          </a:prstGeom>
        </p:spPr>
      </p:pic>
      <p:sp>
        <p:nvSpPr>
          <p:cNvPr id="7" name="TextBox 6">
            <a:extLst>
              <a:ext uri="{FF2B5EF4-FFF2-40B4-BE49-F238E27FC236}">
                <a16:creationId xmlns:a16="http://schemas.microsoft.com/office/drawing/2014/main" id="{D370B5D0-42FE-E252-9B3E-259E61BF7AEC}"/>
              </a:ext>
            </a:extLst>
          </p:cNvPr>
          <p:cNvSpPr txBox="1">
            <a:spLocks/>
          </p:cNvSpPr>
          <p:nvPr/>
        </p:nvSpPr>
        <p:spPr>
          <a:xfrm>
            <a:off x="6373498" y="4624270"/>
            <a:ext cx="4779001" cy="369332"/>
          </a:xfrm>
          <a:prstGeom prst="rect">
            <a:avLst/>
          </a:prstGeom>
          <a:noFill/>
        </p:spPr>
        <p:txBody>
          <a:bodyPr wrap="none" rtlCol="0">
            <a:spAutoFit/>
          </a:bodyPr>
          <a:lstStyle/>
          <a:p>
            <a:r>
              <a:rPr lang="en-US" dirty="0"/>
              <a:t>Figure 2: Revenue Per Capita By Iowa Counties</a:t>
            </a:r>
          </a:p>
        </p:txBody>
      </p:sp>
    </p:spTree>
    <p:extLst>
      <p:ext uri="{BB962C8B-B14F-4D97-AF65-F5344CB8AC3E}">
        <p14:creationId xmlns:p14="http://schemas.microsoft.com/office/powerpoint/2010/main" val="905782237"/>
      </p:ext>
    </p:extLst>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15000"/>
            <a:lum/>
          </a:blip>
          <a:srcRect/>
          <a:stretch>
            <a:fillRect/>
          </a:stretch>
        </a:blip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FE13B233-BC10-894D-2F30-A75D7F9CEB1D}"/>
              </a:ext>
            </a:extLst>
          </p:cNvPr>
          <p:cNvSpPr>
            <a:spLocks noGrp="1"/>
          </p:cNvSpPr>
          <p:nvPr>
            <p:ph type="title"/>
          </p:nvPr>
        </p:nvSpPr>
        <p:spPr/>
        <p:txBody>
          <a:bodyPr/>
          <a:lstStyle/>
          <a:p>
            <a:pPr algn="ctr"/>
            <a:r>
              <a:rPr lang="en-US" dirty="0"/>
              <a:t>Total Revenue vs. Revenue per Capita</a:t>
            </a:r>
          </a:p>
        </p:txBody>
      </p:sp>
      <p:sp>
        <p:nvSpPr>
          <p:cNvPr id="9" name="Text Placeholder 8">
            <a:extLst>
              <a:ext uri="{FF2B5EF4-FFF2-40B4-BE49-F238E27FC236}">
                <a16:creationId xmlns:a16="http://schemas.microsoft.com/office/drawing/2014/main" id="{6B164FD9-76FE-4383-3B73-64357026F37F}"/>
              </a:ext>
            </a:extLst>
          </p:cNvPr>
          <p:cNvSpPr>
            <a:spLocks noGrp="1"/>
          </p:cNvSpPr>
          <p:nvPr>
            <p:ph type="body" idx="1"/>
          </p:nvPr>
        </p:nvSpPr>
        <p:spPr/>
        <p:txBody>
          <a:bodyPr>
            <a:normAutofit/>
          </a:bodyPr>
          <a:lstStyle/>
          <a:p>
            <a:r>
              <a:rPr lang="en-US" sz="3200" dirty="0"/>
              <a:t>Efficiency</a:t>
            </a:r>
          </a:p>
        </p:txBody>
      </p:sp>
      <p:sp>
        <p:nvSpPr>
          <p:cNvPr id="10" name="Content Placeholder 9">
            <a:extLst>
              <a:ext uri="{FF2B5EF4-FFF2-40B4-BE49-F238E27FC236}">
                <a16:creationId xmlns:a16="http://schemas.microsoft.com/office/drawing/2014/main" id="{55FF1E0D-BE69-A382-D0F3-AE5D166F1676}"/>
              </a:ext>
            </a:extLst>
          </p:cNvPr>
          <p:cNvSpPr>
            <a:spLocks noGrp="1"/>
          </p:cNvSpPr>
          <p:nvPr>
            <p:ph sz="half" idx="2"/>
          </p:nvPr>
        </p:nvSpPr>
        <p:spPr>
          <a:xfrm>
            <a:off x="839788" y="2505075"/>
            <a:ext cx="5157787" cy="3249549"/>
          </a:xfrm>
        </p:spPr>
        <p:txBody>
          <a:bodyPr>
            <a:normAutofit/>
          </a:bodyPr>
          <a:lstStyle/>
          <a:p>
            <a:r>
              <a:rPr lang="en-US" dirty="0"/>
              <a:t>Polk, Linn, and Black Hawk</a:t>
            </a:r>
          </a:p>
          <a:p>
            <a:pPr lvl="1"/>
            <a:r>
              <a:rPr lang="en-US" dirty="0"/>
              <a:t>Balanced lifestyles</a:t>
            </a:r>
          </a:p>
          <a:p>
            <a:r>
              <a:rPr lang="en-US" dirty="0"/>
              <a:t>Larger market, larger wallets</a:t>
            </a:r>
          </a:p>
          <a:p>
            <a:r>
              <a:rPr lang="en-US" dirty="0"/>
              <a:t>Average, if not sub-average spending</a:t>
            </a:r>
          </a:p>
        </p:txBody>
      </p:sp>
      <p:sp>
        <p:nvSpPr>
          <p:cNvPr id="11" name="Text Placeholder 10">
            <a:extLst>
              <a:ext uri="{FF2B5EF4-FFF2-40B4-BE49-F238E27FC236}">
                <a16:creationId xmlns:a16="http://schemas.microsoft.com/office/drawing/2014/main" id="{E9F710E8-21A0-BDAF-5C0B-9CB6087BFBF6}"/>
              </a:ext>
            </a:extLst>
          </p:cNvPr>
          <p:cNvSpPr>
            <a:spLocks noGrp="1"/>
          </p:cNvSpPr>
          <p:nvPr>
            <p:ph type="body" sz="quarter" idx="3"/>
          </p:nvPr>
        </p:nvSpPr>
        <p:spPr/>
        <p:txBody>
          <a:bodyPr>
            <a:normAutofit/>
          </a:bodyPr>
          <a:lstStyle/>
          <a:p>
            <a:r>
              <a:rPr lang="en-US" sz="3200" dirty="0"/>
              <a:t>Scaling</a:t>
            </a:r>
          </a:p>
        </p:txBody>
      </p:sp>
      <p:sp>
        <p:nvSpPr>
          <p:cNvPr id="12" name="Content Placeholder 11">
            <a:extLst>
              <a:ext uri="{FF2B5EF4-FFF2-40B4-BE49-F238E27FC236}">
                <a16:creationId xmlns:a16="http://schemas.microsoft.com/office/drawing/2014/main" id="{03C769D8-24EB-B8CF-8F5B-69782EB63CD5}"/>
              </a:ext>
            </a:extLst>
          </p:cNvPr>
          <p:cNvSpPr>
            <a:spLocks noGrp="1"/>
          </p:cNvSpPr>
          <p:nvPr>
            <p:ph sz="quarter" idx="4"/>
          </p:nvPr>
        </p:nvSpPr>
        <p:spPr>
          <a:xfrm>
            <a:off x="6172200" y="2505075"/>
            <a:ext cx="5183188" cy="3249549"/>
          </a:xfrm>
        </p:spPr>
        <p:txBody>
          <a:bodyPr>
            <a:normAutofit/>
          </a:bodyPr>
          <a:lstStyle/>
          <a:p>
            <a:r>
              <a:rPr lang="en-US" dirty="0"/>
              <a:t>Dickinson, O’Brien, and Carroll</a:t>
            </a:r>
          </a:p>
          <a:p>
            <a:pPr lvl="1"/>
            <a:r>
              <a:rPr lang="en-US" dirty="0"/>
              <a:t>Tourist, retail, breathtaking scenery</a:t>
            </a:r>
          </a:p>
          <a:p>
            <a:r>
              <a:rPr lang="en-US" dirty="0"/>
              <a:t>Big spenders</a:t>
            </a:r>
          </a:p>
          <a:p>
            <a:r>
              <a:rPr lang="en-US" dirty="0"/>
              <a:t>Volatile, low proportionate population</a:t>
            </a:r>
            <a:endParaRPr lang="en-US" sz="2400" dirty="0"/>
          </a:p>
        </p:txBody>
      </p:sp>
      <p:sp>
        <p:nvSpPr>
          <p:cNvPr id="13" name="Content Placeholder 11">
            <a:extLst>
              <a:ext uri="{FF2B5EF4-FFF2-40B4-BE49-F238E27FC236}">
                <a16:creationId xmlns:a16="http://schemas.microsoft.com/office/drawing/2014/main" id="{79FA915E-535A-2E64-2413-9A6BB5906B21}"/>
              </a:ext>
            </a:extLst>
          </p:cNvPr>
          <p:cNvSpPr txBox="1">
            <a:spLocks/>
          </p:cNvSpPr>
          <p:nvPr/>
        </p:nvSpPr>
        <p:spPr>
          <a:xfrm>
            <a:off x="838200" y="5754624"/>
            <a:ext cx="10515600" cy="936690"/>
          </a:xfrm>
          <a:prstGeom prst="rect">
            <a:avLst/>
          </a:prstGeom>
        </p:spPr>
        <p:txBody>
          <a:bodyPr vert="horz" lIns="91440" tIns="45720" rIns="91440" bIns="45720" rtlCol="0" anchor="t" anchorCtr="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solidFill>
                  <a:srgbClr val="FF0000"/>
                </a:solidFill>
              </a:rPr>
              <a:t>Larger market </a:t>
            </a:r>
            <a:r>
              <a:rPr lang="en-US" dirty="0">
                <a:solidFill>
                  <a:schemeClr val="tx2">
                    <a:lumMod val="75000"/>
                    <a:lumOff val="25000"/>
                  </a:schemeClr>
                </a:solidFill>
              </a:rPr>
              <a:t>*</a:t>
            </a:r>
            <a:r>
              <a:rPr lang="en-US" dirty="0"/>
              <a:t> </a:t>
            </a:r>
            <a:r>
              <a:rPr lang="en-US" dirty="0">
                <a:solidFill>
                  <a:srgbClr val="FF0000"/>
                </a:solidFill>
              </a:rPr>
              <a:t>Big Spenders</a:t>
            </a:r>
            <a:r>
              <a:rPr lang="en-US" dirty="0"/>
              <a:t> = </a:t>
            </a:r>
            <a:r>
              <a:rPr lang="en-US" sz="5700" b="1" dirty="0">
                <a:solidFill>
                  <a:schemeClr val="accent6"/>
                </a:solidFill>
              </a:rPr>
              <a:t>Big Money</a:t>
            </a:r>
          </a:p>
        </p:txBody>
      </p:sp>
    </p:spTree>
    <p:extLst>
      <p:ext uri="{BB962C8B-B14F-4D97-AF65-F5344CB8AC3E}">
        <p14:creationId xmlns:p14="http://schemas.microsoft.com/office/powerpoint/2010/main" val="16936610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01095486-F521-F560-974B-1F07E15787F4}"/>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So What?</a:t>
            </a:r>
          </a:p>
        </p:txBody>
      </p:sp>
      <p:sp>
        <p:nvSpPr>
          <p:cNvPr id="13" name="TextBox 12">
            <a:extLst>
              <a:ext uri="{FF2B5EF4-FFF2-40B4-BE49-F238E27FC236}">
                <a16:creationId xmlns:a16="http://schemas.microsoft.com/office/drawing/2014/main" id="{17A05547-ABD2-3935-EED5-C5CBCD757B9D}"/>
              </a:ext>
            </a:extLst>
          </p:cNvPr>
          <p:cNvSpPr txBox="1">
            <a:spLocks/>
          </p:cNvSpPr>
          <p:nvPr/>
        </p:nvSpPr>
        <p:spPr>
          <a:xfrm>
            <a:off x="8572499" y="390832"/>
            <a:ext cx="3233585" cy="873612"/>
          </a:xfrm>
          <a:prstGeom prst="rect">
            <a:avLst/>
          </a:prstGeom>
        </p:spPr>
        <p:txBody>
          <a:bodyPr vert="horz" lIns="91440" tIns="45720" rIns="91440" bIns="45720" rtlCol="0" anchor="ctr">
            <a:normAutofit/>
          </a:bodyPr>
          <a:lstStyle/>
          <a:p>
            <a:pPr>
              <a:lnSpc>
                <a:spcPct val="90000"/>
              </a:lnSpc>
              <a:spcBef>
                <a:spcPts val="1000"/>
              </a:spcBef>
            </a:pPr>
            <a:r>
              <a:rPr lang="en-US" sz="1700" kern="1200">
                <a:solidFill>
                  <a:srgbClr val="FFFFFF"/>
                </a:solidFill>
                <a:latin typeface="+mn-lt"/>
                <a:ea typeface="+mn-ea"/>
                <a:cs typeface="+mn-cs"/>
              </a:rPr>
              <a:t>Figure 3: Revenue per Capita vs Total Revenue: Weak positive correlation</a:t>
            </a:r>
          </a:p>
        </p:txBody>
      </p:sp>
      <p:pic>
        <p:nvPicPr>
          <p:cNvPr id="12" name="Content Placeholder 11">
            <a:extLst>
              <a:ext uri="{FF2B5EF4-FFF2-40B4-BE49-F238E27FC236}">
                <a16:creationId xmlns:a16="http://schemas.microsoft.com/office/drawing/2014/main" id="{C2C8AC4A-ABAF-9011-EFB2-7A38F8683A36}"/>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385870" y="1966293"/>
            <a:ext cx="7420259" cy="4452160"/>
          </a:xfrm>
          <a:prstGeom prst="rect">
            <a:avLst/>
          </a:prstGeom>
        </p:spPr>
      </p:pic>
    </p:spTree>
    <p:extLst>
      <p:ext uri="{BB962C8B-B14F-4D97-AF65-F5344CB8AC3E}">
        <p14:creationId xmlns:p14="http://schemas.microsoft.com/office/powerpoint/2010/main" val="19286953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15000"/>
            <a:lum/>
          </a:blip>
          <a:srcRect/>
          <a:stretch>
            <a:fillRect/>
          </a:stretch>
        </a:blipFill>
        <a:effectLst/>
      </p:bgPr>
    </p:bg>
    <p:spTree>
      <p:nvGrpSpPr>
        <p:cNvPr id="1" name="">
          <a:extLst>
            <a:ext uri="{FF2B5EF4-FFF2-40B4-BE49-F238E27FC236}">
              <a16:creationId xmlns:a16="http://schemas.microsoft.com/office/drawing/2014/main" id="{4E97C058-1739-8C25-78CF-CAA18FD6B3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3B0228-75D9-D38D-AB31-304ED08031F5}"/>
              </a:ext>
            </a:extLst>
          </p:cNvPr>
          <p:cNvSpPr>
            <a:spLocks noGrp="1"/>
          </p:cNvSpPr>
          <p:nvPr>
            <p:ph type="title"/>
          </p:nvPr>
        </p:nvSpPr>
        <p:spPr/>
        <p:txBody>
          <a:bodyPr/>
          <a:lstStyle/>
          <a:p>
            <a:r>
              <a:rPr lang="en-US" dirty="0"/>
              <a:t>Product Performance</a:t>
            </a:r>
          </a:p>
        </p:txBody>
      </p:sp>
      <p:sp>
        <p:nvSpPr>
          <p:cNvPr id="5" name="Text Placeholder 4">
            <a:extLst>
              <a:ext uri="{FF2B5EF4-FFF2-40B4-BE49-F238E27FC236}">
                <a16:creationId xmlns:a16="http://schemas.microsoft.com/office/drawing/2014/main" id="{46C2FA9A-8EE2-9316-A6FC-DFABB436CD96}"/>
              </a:ext>
            </a:extLst>
          </p:cNvPr>
          <p:cNvSpPr>
            <a:spLocks noGrp="1"/>
          </p:cNvSpPr>
          <p:nvPr>
            <p:ph type="body" idx="1"/>
          </p:nvPr>
        </p:nvSpPr>
        <p:spPr/>
        <p:txBody>
          <a:bodyPr>
            <a:normAutofit/>
          </a:bodyPr>
          <a:lstStyle/>
          <a:p>
            <a:r>
              <a:rPr lang="en-US" sz="3200" dirty="0"/>
              <a:t>Best</a:t>
            </a:r>
          </a:p>
        </p:txBody>
      </p:sp>
      <p:sp>
        <p:nvSpPr>
          <p:cNvPr id="3" name="Content Placeholder 2">
            <a:extLst>
              <a:ext uri="{FF2B5EF4-FFF2-40B4-BE49-F238E27FC236}">
                <a16:creationId xmlns:a16="http://schemas.microsoft.com/office/drawing/2014/main" id="{19D3E9C4-35D5-66B4-CB4B-4384A3D28900}"/>
              </a:ext>
            </a:extLst>
          </p:cNvPr>
          <p:cNvSpPr>
            <a:spLocks noGrp="1"/>
          </p:cNvSpPr>
          <p:nvPr>
            <p:ph sz="half" idx="2"/>
          </p:nvPr>
        </p:nvSpPr>
        <p:spPr/>
        <p:txBody>
          <a:bodyPr/>
          <a:lstStyle/>
          <a:p>
            <a:r>
              <a:rPr lang="en-US" dirty="0"/>
              <a:t>Product: </a:t>
            </a:r>
            <a:r>
              <a:rPr lang="en-US" b="1" dirty="0"/>
              <a:t>Black Velvet</a:t>
            </a:r>
          </a:p>
          <a:p>
            <a:r>
              <a:rPr lang="en-US" dirty="0"/>
              <a:t>Series: Black Velvet</a:t>
            </a:r>
          </a:p>
          <a:p>
            <a:r>
              <a:rPr lang="en-US" dirty="0"/>
              <a:t>Category: </a:t>
            </a:r>
            <a:r>
              <a:rPr lang="en-US" b="1" dirty="0"/>
              <a:t>Whiskies</a:t>
            </a:r>
          </a:p>
          <a:p>
            <a:pPr lvl="1"/>
            <a:r>
              <a:rPr lang="en-US" dirty="0"/>
              <a:t>Canadian Whiskies</a:t>
            </a:r>
          </a:p>
        </p:txBody>
      </p:sp>
      <p:sp>
        <p:nvSpPr>
          <p:cNvPr id="6" name="Text Placeholder 5">
            <a:extLst>
              <a:ext uri="{FF2B5EF4-FFF2-40B4-BE49-F238E27FC236}">
                <a16:creationId xmlns:a16="http://schemas.microsoft.com/office/drawing/2014/main" id="{094B69B4-C269-592A-185B-67C7D4AE498E}"/>
              </a:ext>
            </a:extLst>
          </p:cNvPr>
          <p:cNvSpPr>
            <a:spLocks noGrp="1"/>
          </p:cNvSpPr>
          <p:nvPr>
            <p:ph type="body" sz="quarter" idx="3"/>
          </p:nvPr>
        </p:nvSpPr>
        <p:spPr/>
        <p:txBody>
          <a:bodyPr>
            <a:normAutofit/>
          </a:bodyPr>
          <a:lstStyle/>
          <a:p>
            <a:r>
              <a:rPr lang="en-US" sz="3200" dirty="0"/>
              <a:t>Worst</a:t>
            </a:r>
          </a:p>
        </p:txBody>
      </p:sp>
      <p:sp>
        <p:nvSpPr>
          <p:cNvPr id="7" name="Content Placeholder 6">
            <a:extLst>
              <a:ext uri="{FF2B5EF4-FFF2-40B4-BE49-F238E27FC236}">
                <a16:creationId xmlns:a16="http://schemas.microsoft.com/office/drawing/2014/main" id="{06FBBFEA-2AFE-FED3-0006-8103B758DDEC}"/>
              </a:ext>
            </a:extLst>
          </p:cNvPr>
          <p:cNvSpPr>
            <a:spLocks noGrp="1"/>
          </p:cNvSpPr>
          <p:nvPr>
            <p:ph sz="quarter" idx="4"/>
          </p:nvPr>
        </p:nvSpPr>
        <p:spPr/>
        <p:txBody>
          <a:bodyPr/>
          <a:lstStyle/>
          <a:p>
            <a:r>
              <a:rPr lang="en-US" dirty="0"/>
              <a:t>Product: </a:t>
            </a:r>
            <a:r>
              <a:rPr lang="en-US" b="1" dirty="0"/>
              <a:t>Canadian Mac Naughton Whiskey</a:t>
            </a:r>
          </a:p>
          <a:p>
            <a:r>
              <a:rPr lang="en-US" dirty="0"/>
              <a:t>Series: Canadian Mac Naughton Whiskey</a:t>
            </a:r>
          </a:p>
          <a:p>
            <a:r>
              <a:rPr lang="en-US" dirty="0"/>
              <a:t>Category: </a:t>
            </a:r>
            <a:r>
              <a:rPr lang="en-US" b="1" dirty="0"/>
              <a:t>Tequila</a:t>
            </a:r>
          </a:p>
        </p:txBody>
      </p:sp>
    </p:spTree>
    <p:extLst>
      <p:ext uri="{BB962C8B-B14F-4D97-AF65-F5344CB8AC3E}">
        <p14:creationId xmlns:p14="http://schemas.microsoft.com/office/powerpoint/2010/main" val="29966209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15000"/>
            <a:lum/>
          </a:blip>
          <a:srcRect/>
          <a:stretch>
            <a:fillRect/>
          </a:stretch>
        </a:blip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F27DC5E-5F05-C6B5-1CA9-64C6A8CE52DD}"/>
              </a:ext>
            </a:extLst>
          </p:cNvPr>
          <p:cNvSpPr>
            <a:spLocks noGrp="1"/>
          </p:cNvSpPr>
          <p:nvPr>
            <p:ph type="title"/>
          </p:nvPr>
        </p:nvSpPr>
        <p:spPr/>
        <p:txBody>
          <a:bodyPr/>
          <a:lstStyle/>
          <a:p>
            <a:r>
              <a:rPr lang="en-US" dirty="0"/>
              <a:t>Product Performance (Cont.)</a:t>
            </a:r>
          </a:p>
        </p:txBody>
      </p:sp>
      <p:pic>
        <p:nvPicPr>
          <p:cNvPr id="11" name="Content Placeholder 10">
            <a:extLst>
              <a:ext uri="{FF2B5EF4-FFF2-40B4-BE49-F238E27FC236}">
                <a16:creationId xmlns:a16="http://schemas.microsoft.com/office/drawing/2014/main" id="{0BC4356D-58C3-BE7F-97CB-C3B6D71A63F8}"/>
              </a:ext>
            </a:extLst>
          </p:cNvPr>
          <p:cNvPicPr>
            <a:picLocks noGrp="1" noChangeAspect="1"/>
          </p:cNvPicPr>
          <p:nvPr>
            <p:ph sz="half" idx="1"/>
          </p:nvPr>
        </p:nvPicPr>
        <p:blipFill>
          <a:blip r:embed="rId4">
            <a:extLst>
              <a:ext uri="{28A0092B-C50C-407E-A947-70E740481C1C}">
                <a14:useLocalDpi xmlns:a14="http://schemas.microsoft.com/office/drawing/2010/main" val="0"/>
              </a:ext>
            </a:extLst>
          </a:blip>
          <a:stretch>
            <a:fillRect/>
          </a:stretch>
        </p:blipFill>
        <p:spPr>
          <a:xfrm>
            <a:off x="1060273" y="1825625"/>
            <a:ext cx="4737454" cy="4351338"/>
          </a:xfrm>
          <a:prstGeom prst="rect">
            <a:avLst/>
          </a:prstGeom>
        </p:spPr>
      </p:pic>
      <p:pic>
        <p:nvPicPr>
          <p:cNvPr id="13" name="Content Placeholder 12">
            <a:extLst>
              <a:ext uri="{FF2B5EF4-FFF2-40B4-BE49-F238E27FC236}">
                <a16:creationId xmlns:a16="http://schemas.microsoft.com/office/drawing/2014/main" id="{E0F87FD3-A5FF-2781-59FA-B8656EA66E46}"/>
              </a:ext>
            </a:extLst>
          </p:cNvPr>
          <p:cNvPicPr>
            <a:picLocks noGrp="1" noChangeAspect="1"/>
          </p:cNvPicPr>
          <p:nvPr>
            <p:ph sz="half" idx="2"/>
          </p:nvPr>
        </p:nvPicPr>
        <p:blipFill>
          <a:blip r:embed="rId5">
            <a:extLst>
              <a:ext uri="{28A0092B-C50C-407E-A947-70E740481C1C}">
                <a14:useLocalDpi xmlns:a14="http://schemas.microsoft.com/office/drawing/2010/main" val="0"/>
              </a:ext>
            </a:extLst>
          </a:blip>
          <a:stretch>
            <a:fillRect/>
          </a:stretch>
        </p:blipFill>
        <p:spPr>
          <a:xfrm>
            <a:off x="6422715" y="1825625"/>
            <a:ext cx="4680569" cy="4351338"/>
          </a:xfrm>
          <a:prstGeom prst="rect">
            <a:avLst/>
          </a:prstGeom>
        </p:spPr>
      </p:pic>
      <p:sp>
        <p:nvSpPr>
          <p:cNvPr id="14" name="TextBox 13">
            <a:extLst>
              <a:ext uri="{FF2B5EF4-FFF2-40B4-BE49-F238E27FC236}">
                <a16:creationId xmlns:a16="http://schemas.microsoft.com/office/drawing/2014/main" id="{B412C438-7430-8D86-CE15-08A5F68DE490}"/>
              </a:ext>
            </a:extLst>
          </p:cNvPr>
          <p:cNvSpPr txBox="1">
            <a:spLocks/>
          </p:cNvSpPr>
          <p:nvPr/>
        </p:nvSpPr>
        <p:spPr>
          <a:xfrm>
            <a:off x="1474750" y="6176963"/>
            <a:ext cx="3908506" cy="369332"/>
          </a:xfrm>
          <a:prstGeom prst="rect">
            <a:avLst/>
          </a:prstGeom>
          <a:noFill/>
        </p:spPr>
        <p:txBody>
          <a:bodyPr wrap="none" rtlCol="0">
            <a:spAutoFit/>
          </a:bodyPr>
          <a:lstStyle/>
          <a:p>
            <a:pPr algn="ctr"/>
            <a:r>
              <a:rPr lang="en-US" dirty="0"/>
              <a:t>Figure 4: Annual Revenue by Category</a:t>
            </a:r>
          </a:p>
        </p:txBody>
      </p:sp>
      <p:sp>
        <p:nvSpPr>
          <p:cNvPr id="15" name="TextBox 14">
            <a:extLst>
              <a:ext uri="{FF2B5EF4-FFF2-40B4-BE49-F238E27FC236}">
                <a16:creationId xmlns:a16="http://schemas.microsoft.com/office/drawing/2014/main" id="{3BE0FE52-208D-26EE-5558-0916DD331DC0}"/>
              </a:ext>
            </a:extLst>
          </p:cNvPr>
          <p:cNvSpPr txBox="1">
            <a:spLocks/>
          </p:cNvSpPr>
          <p:nvPr/>
        </p:nvSpPr>
        <p:spPr>
          <a:xfrm>
            <a:off x="6949908" y="6176963"/>
            <a:ext cx="3626185" cy="369332"/>
          </a:xfrm>
          <a:prstGeom prst="rect">
            <a:avLst/>
          </a:prstGeom>
          <a:noFill/>
        </p:spPr>
        <p:txBody>
          <a:bodyPr wrap="none" rtlCol="0">
            <a:spAutoFit/>
          </a:bodyPr>
          <a:lstStyle/>
          <a:p>
            <a:pPr algn="ctr"/>
            <a:r>
              <a:rPr lang="en-US" dirty="0"/>
              <a:t>Figure 5: Annual Revenue by Series</a:t>
            </a:r>
          </a:p>
        </p:txBody>
      </p:sp>
    </p:spTree>
    <p:extLst>
      <p:ext uri="{BB962C8B-B14F-4D97-AF65-F5344CB8AC3E}">
        <p14:creationId xmlns:p14="http://schemas.microsoft.com/office/powerpoint/2010/main" val="9202265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F36F8D8-9E85-FEE4-7A37-E3799247A7B5}"/>
            </a:ext>
          </a:extLst>
        </p:cNvPr>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1C1A9D-2042-8FBB-DEDE-D181A6DE87DC}"/>
              </a:ext>
            </a:extLst>
          </p:cNvPr>
          <p:cNvSpPr>
            <a:spLocks noGrp="1"/>
          </p:cNvSpPr>
          <p:nvPr>
            <p:ph type="title"/>
          </p:nvPr>
        </p:nvSpPr>
        <p:spPr>
          <a:xfrm>
            <a:off x="1136397" y="502020"/>
            <a:ext cx="5323715" cy="1642970"/>
          </a:xfrm>
        </p:spPr>
        <p:txBody>
          <a:bodyPr vert="horz" lIns="91440" tIns="45720" rIns="91440" bIns="45720" rtlCol="0" anchor="b">
            <a:normAutofit/>
          </a:bodyPr>
          <a:lstStyle/>
          <a:p>
            <a:r>
              <a:rPr lang="en-US" sz="4000" kern="1200">
                <a:solidFill>
                  <a:schemeClr val="tx1"/>
                </a:solidFill>
                <a:latin typeface="+mj-lt"/>
                <a:ea typeface="+mj-ea"/>
                <a:cs typeface="+mj-cs"/>
              </a:rPr>
              <a:t>Black Velvet: The King of the Bottom Shelf</a:t>
            </a:r>
          </a:p>
        </p:txBody>
      </p:sp>
      <p:sp>
        <p:nvSpPr>
          <p:cNvPr id="3" name="Content Placeholder 2">
            <a:extLst>
              <a:ext uri="{FF2B5EF4-FFF2-40B4-BE49-F238E27FC236}">
                <a16:creationId xmlns:a16="http://schemas.microsoft.com/office/drawing/2014/main" id="{0395F842-E000-BE3D-C22F-45DD9C956619}"/>
              </a:ext>
            </a:extLst>
          </p:cNvPr>
          <p:cNvSpPr>
            <a:spLocks noGrp="1"/>
          </p:cNvSpPr>
          <p:nvPr>
            <p:ph sz="half" idx="1"/>
          </p:nvPr>
        </p:nvSpPr>
        <p:spPr>
          <a:xfrm>
            <a:off x="1144923" y="2405894"/>
            <a:ext cx="5315189" cy="3535083"/>
          </a:xfrm>
        </p:spPr>
        <p:txBody>
          <a:bodyPr vert="horz" lIns="91440" tIns="45720" rIns="91440" bIns="45720" rtlCol="0" anchor="t">
            <a:normAutofit/>
          </a:bodyPr>
          <a:lstStyle/>
          <a:p>
            <a:r>
              <a:rPr lang="en-US" sz="2000"/>
              <a:t>$19.7M out of $19.77M in Whiskey sales</a:t>
            </a:r>
          </a:p>
          <a:p>
            <a:pPr lvl="1"/>
            <a:r>
              <a:rPr lang="en-US" sz="2000"/>
              <a:t>Controls 16% of overall market</a:t>
            </a:r>
          </a:p>
          <a:p>
            <a:pPr lvl="1"/>
            <a:r>
              <a:rPr lang="en-US" sz="2000"/>
              <a:t>#1 among all whiskey brands</a:t>
            </a:r>
          </a:p>
          <a:p>
            <a:r>
              <a:rPr lang="en-US" sz="2000"/>
              <a:t>Why?</a:t>
            </a:r>
          </a:p>
          <a:p>
            <a:pPr lvl="1"/>
            <a:r>
              <a:rPr lang="en-US" sz="2000"/>
              <a:t>Smooth and easy to drink</a:t>
            </a:r>
          </a:p>
          <a:p>
            <a:pPr lvl="1"/>
            <a:r>
              <a:rPr lang="en-US" sz="2000"/>
              <a:t>Cheap and widely available</a:t>
            </a:r>
          </a:p>
          <a:p>
            <a:pPr lvl="1"/>
            <a:r>
              <a:rPr lang="en-US" sz="2000"/>
              <a:t>Designed for casual drinkers</a:t>
            </a:r>
          </a:p>
          <a:p>
            <a:pPr lvl="1"/>
            <a:r>
              <a:rPr lang="en-US" sz="2000"/>
              <a:t>Sells on brand recognition and loyalty</a:t>
            </a:r>
          </a:p>
        </p:txBody>
      </p:sp>
      <p:sp>
        <p:nvSpPr>
          <p:cNvPr id="24" name="Rectangle 23">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Content Placeholder 5">
            <a:extLst>
              <a:ext uri="{FF2B5EF4-FFF2-40B4-BE49-F238E27FC236}">
                <a16:creationId xmlns:a16="http://schemas.microsoft.com/office/drawing/2014/main" id="{0C76034A-4EB3-CB9E-6CE5-D3F21AF80CC6}"/>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9205964" y="664306"/>
            <a:ext cx="1927257" cy="5071731"/>
          </a:xfrm>
          <a:prstGeom prst="rect">
            <a:avLst/>
          </a:prstGeom>
        </p:spPr>
      </p:pic>
    </p:spTree>
    <p:extLst>
      <p:ext uri="{BB962C8B-B14F-4D97-AF65-F5344CB8AC3E}">
        <p14:creationId xmlns:p14="http://schemas.microsoft.com/office/powerpoint/2010/main" val="31501547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35000"/>
            <a:lum/>
          </a:blip>
          <a:srcRect/>
          <a:stretch>
            <a:fillRect t="-2000" b="-2000"/>
          </a:stretch>
        </a:blipFill>
        <a:effectLst/>
      </p:bgPr>
    </p:bg>
    <p:spTree>
      <p:nvGrpSpPr>
        <p:cNvPr id="1" name="">
          <a:extLst>
            <a:ext uri="{FF2B5EF4-FFF2-40B4-BE49-F238E27FC236}">
              <a16:creationId xmlns:a16="http://schemas.microsoft.com/office/drawing/2014/main" id="{0BAA6A4C-7A5C-7A0B-F7C6-0CCF312147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C28EA6-2CCD-7FC7-6EB6-4F0EB72E511F}"/>
              </a:ext>
            </a:extLst>
          </p:cNvPr>
          <p:cNvSpPr>
            <a:spLocks noGrp="1"/>
          </p:cNvSpPr>
          <p:nvPr>
            <p:ph type="title"/>
          </p:nvPr>
        </p:nvSpPr>
        <p:spPr/>
        <p:txBody>
          <a:bodyPr/>
          <a:lstStyle/>
          <a:p>
            <a:r>
              <a:rPr lang="en-US" dirty="0"/>
              <a:t>Tequila Market</a:t>
            </a:r>
          </a:p>
        </p:txBody>
      </p:sp>
      <p:sp>
        <p:nvSpPr>
          <p:cNvPr id="3" name="Content Placeholder 2">
            <a:extLst>
              <a:ext uri="{FF2B5EF4-FFF2-40B4-BE49-F238E27FC236}">
                <a16:creationId xmlns:a16="http://schemas.microsoft.com/office/drawing/2014/main" id="{8134932C-0E57-C49F-2D12-9BB65C82AE82}"/>
              </a:ext>
            </a:extLst>
          </p:cNvPr>
          <p:cNvSpPr>
            <a:spLocks noGrp="1"/>
          </p:cNvSpPr>
          <p:nvPr>
            <p:ph idx="1"/>
          </p:nvPr>
        </p:nvSpPr>
        <p:spPr/>
        <p:txBody>
          <a:bodyPr/>
          <a:lstStyle/>
          <a:p>
            <a:r>
              <a:rPr lang="en-US" dirty="0"/>
              <a:t>Only one transaction, lowest performing market</a:t>
            </a:r>
          </a:p>
          <a:p>
            <a:pPr lvl="1"/>
            <a:r>
              <a:rPr lang="en-US" dirty="0"/>
              <a:t>$900 in sales</a:t>
            </a:r>
          </a:p>
          <a:p>
            <a:r>
              <a:rPr lang="en-US" dirty="0"/>
              <a:t>No brand recognition nor loyalty</a:t>
            </a:r>
          </a:p>
          <a:p>
            <a:pPr lvl="1"/>
            <a:r>
              <a:rPr lang="en-US" dirty="0"/>
              <a:t>Need to tie a “premium” reputation</a:t>
            </a:r>
          </a:p>
          <a:p>
            <a:r>
              <a:rPr lang="en-US" dirty="0"/>
              <a:t>Expensive, or potential </a:t>
            </a:r>
          </a:p>
        </p:txBody>
      </p:sp>
    </p:spTree>
    <p:extLst>
      <p:ext uri="{BB962C8B-B14F-4D97-AF65-F5344CB8AC3E}">
        <p14:creationId xmlns:p14="http://schemas.microsoft.com/office/powerpoint/2010/main" val="3435160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F39791-A5E4-7EBE-160C-71955643138F}"/>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Freeform: Shape 22">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38D9A12F-D812-A8BC-4584-8F8DA3CC2C85}"/>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Other Market Mentions</a:t>
            </a:r>
          </a:p>
        </p:txBody>
      </p:sp>
      <p:pic>
        <p:nvPicPr>
          <p:cNvPr id="10" name="Content Placeholder 9">
            <a:extLst>
              <a:ext uri="{FF2B5EF4-FFF2-40B4-BE49-F238E27FC236}">
                <a16:creationId xmlns:a16="http://schemas.microsoft.com/office/drawing/2014/main" id="{2F9F0055-26EE-E73D-8645-704D6F56046F}"/>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502428" y="1514177"/>
            <a:ext cx="7225748" cy="3829645"/>
          </a:xfrm>
          <a:prstGeom prst="rect">
            <a:avLst/>
          </a:prstGeom>
        </p:spPr>
      </p:pic>
    </p:spTree>
    <p:extLst>
      <p:ext uri="{BB962C8B-B14F-4D97-AF65-F5344CB8AC3E}">
        <p14:creationId xmlns:p14="http://schemas.microsoft.com/office/powerpoint/2010/main" val="18688104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60D7010-AD3B-60EB-8682-D5B530D91CE8}"/>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Freeform: Shape 22">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88FB63FC-4E4D-1766-C67C-200AAB54364E}"/>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Other Market Mentions</a:t>
            </a:r>
          </a:p>
        </p:txBody>
      </p:sp>
      <p:pic>
        <p:nvPicPr>
          <p:cNvPr id="10" name="Content Placeholder 9">
            <a:extLst>
              <a:ext uri="{FF2B5EF4-FFF2-40B4-BE49-F238E27FC236}">
                <a16:creationId xmlns:a16="http://schemas.microsoft.com/office/drawing/2014/main" id="{A5E0EEF6-68E5-0973-A610-8482D6697C4A}"/>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p:blipFill>
        <p:spPr>
          <a:xfrm>
            <a:off x="4502428" y="1514177"/>
            <a:ext cx="7225748" cy="3829645"/>
          </a:xfrm>
          <a:prstGeom prst="rect">
            <a:avLst/>
          </a:prstGeom>
        </p:spPr>
      </p:pic>
    </p:spTree>
    <p:extLst>
      <p:ext uri="{BB962C8B-B14F-4D97-AF65-F5344CB8AC3E}">
        <p14:creationId xmlns:p14="http://schemas.microsoft.com/office/powerpoint/2010/main" val="6558545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FE8C0-4E48-07AC-C632-058FD54CF8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1358D2-DFEF-F660-BFF2-8A83811A93F2}"/>
              </a:ext>
            </a:extLst>
          </p:cNvPr>
          <p:cNvSpPr>
            <a:spLocks noGrp="1"/>
          </p:cNvSpPr>
          <p:nvPr>
            <p:ph type="title"/>
          </p:nvPr>
        </p:nvSpPr>
        <p:spPr/>
        <p:txBody>
          <a:bodyPr/>
          <a:lstStyle/>
          <a:p>
            <a:r>
              <a:rPr lang="en-US" dirty="0"/>
              <a:t>Key Takeaways</a:t>
            </a:r>
          </a:p>
        </p:txBody>
      </p:sp>
      <p:sp>
        <p:nvSpPr>
          <p:cNvPr id="3" name="Content Placeholder 2">
            <a:extLst>
              <a:ext uri="{FF2B5EF4-FFF2-40B4-BE49-F238E27FC236}">
                <a16:creationId xmlns:a16="http://schemas.microsoft.com/office/drawing/2014/main" id="{2A64875F-9FA5-82E6-07AA-7126FF3F5A55}"/>
              </a:ext>
            </a:extLst>
          </p:cNvPr>
          <p:cNvSpPr>
            <a:spLocks noGrp="1"/>
          </p:cNvSpPr>
          <p:nvPr>
            <p:ph idx="1"/>
          </p:nvPr>
        </p:nvSpPr>
        <p:spPr/>
        <p:txBody>
          <a:bodyPr>
            <a:normAutofit/>
          </a:bodyPr>
          <a:lstStyle/>
          <a:p>
            <a:r>
              <a:rPr lang="en-US" dirty="0"/>
              <a:t>We have influence in </a:t>
            </a:r>
            <a:r>
              <a:rPr lang="en-US" b="1" u="sng" dirty="0">
                <a:solidFill>
                  <a:srgbClr val="00B050"/>
                </a:solidFill>
              </a:rPr>
              <a:t>100%</a:t>
            </a:r>
            <a:r>
              <a:rPr lang="en-US" dirty="0"/>
              <a:t> of Iowa</a:t>
            </a:r>
          </a:p>
          <a:p>
            <a:r>
              <a:rPr lang="en-US" dirty="0"/>
              <a:t>Scale spender efficiency to larger markets through marketing recreational activities/promotions</a:t>
            </a:r>
          </a:p>
          <a:p>
            <a:pPr lvl="1"/>
            <a:r>
              <a:rPr lang="en-US" dirty="0"/>
              <a:t>Potential global revenue growth </a:t>
            </a:r>
            <a:r>
              <a:rPr lang="en-US" b="1" u="sng" dirty="0">
                <a:solidFill>
                  <a:srgbClr val="00B050"/>
                </a:solidFill>
              </a:rPr>
              <a:t>over 100%</a:t>
            </a:r>
          </a:p>
          <a:p>
            <a:r>
              <a:rPr lang="en-US" dirty="0"/>
              <a:t>More budget towards researching and marketing Black Velvet</a:t>
            </a:r>
          </a:p>
          <a:p>
            <a:r>
              <a:rPr lang="en-US" dirty="0"/>
              <a:t>Reconsider Tequila pilot marketing or drop completely</a:t>
            </a:r>
          </a:p>
          <a:p>
            <a:r>
              <a:rPr lang="en-US" dirty="0"/>
              <a:t>As with customer loyalty, make our brands </a:t>
            </a:r>
            <a:r>
              <a:rPr lang="en-US" b="1" u="sng" dirty="0"/>
              <a:t>worth reaching for</a:t>
            </a:r>
            <a:endParaRPr lang="en-US" dirty="0"/>
          </a:p>
        </p:txBody>
      </p:sp>
    </p:spTree>
    <p:extLst>
      <p:ext uri="{BB962C8B-B14F-4D97-AF65-F5344CB8AC3E}">
        <p14:creationId xmlns:p14="http://schemas.microsoft.com/office/powerpoint/2010/main" val="38319265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35000"/>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346390-67A1-36BB-72E3-035DA62E4ACB}"/>
              </a:ext>
            </a:extLst>
          </p:cNvPr>
          <p:cNvSpPr>
            <a:spLocks noGrp="1"/>
          </p:cNvSpPr>
          <p:nvPr>
            <p:ph type="title"/>
          </p:nvPr>
        </p:nvSpPr>
        <p:spPr/>
        <p:txBody>
          <a:bodyPr/>
          <a:lstStyle/>
          <a:p>
            <a:r>
              <a:rPr lang="en-US" dirty="0"/>
              <a:t>The Risky Play</a:t>
            </a:r>
          </a:p>
        </p:txBody>
      </p:sp>
      <p:sp>
        <p:nvSpPr>
          <p:cNvPr id="3" name="Content Placeholder 2">
            <a:extLst>
              <a:ext uri="{FF2B5EF4-FFF2-40B4-BE49-F238E27FC236}">
                <a16:creationId xmlns:a16="http://schemas.microsoft.com/office/drawing/2014/main" id="{C7BA4404-20B5-31B6-F277-5A3B263BA3E7}"/>
              </a:ext>
            </a:extLst>
          </p:cNvPr>
          <p:cNvSpPr>
            <a:spLocks noGrp="1"/>
          </p:cNvSpPr>
          <p:nvPr>
            <p:ph idx="1"/>
          </p:nvPr>
        </p:nvSpPr>
        <p:spPr/>
        <p:txBody>
          <a:bodyPr>
            <a:normAutofit lnSpcReduction="10000"/>
          </a:bodyPr>
          <a:lstStyle/>
          <a:p>
            <a:r>
              <a:rPr lang="en-US" dirty="0"/>
              <a:t>We acquired Modelo back in 2013</a:t>
            </a:r>
          </a:p>
          <a:p>
            <a:r>
              <a:rPr lang="en-US" dirty="0"/>
              <a:t>Remember Black Velvet</a:t>
            </a:r>
          </a:p>
          <a:p>
            <a:pPr lvl="1"/>
            <a:r>
              <a:rPr lang="en-US" dirty="0"/>
              <a:t>Smooth and easy to drink</a:t>
            </a:r>
          </a:p>
          <a:p>
            <a:pPr lvl="1"/>
            <a:r>
              <a:rPr lang="en-US" dirty="0"/>
              <a:t>Cheap and widely available</a:t>
            </a:r>
          </a:p>
          <a:p>
            <a:pPr lvl="1"/>
            <a:r>
              <a:rPr lang="en-US" dirty="0"/>
              <a:t>Designed for casual drinkers</a:t>
            </a:r>
          </a:p>
          <a:p>
            <a:pPr lvl="1"/>
            <a:r>
              <a:rPr lang="en-US" dirty="0"/>
              <a:t>Sells on brand recognition and loyalty</a:t>
            </a:r>
          </a:p>
          <a:p>
            <a:r>
              <a:rPr lang="en-US" dirty="0"/>
              <a:t>Sell Black Velvet and scale in the beer market</a:t>
            </a:r>
          </a:p>
          <a:p>
            <a:pPr lvl="1"/>
            <a:r>
              <a:rPr lang="en-US" dirty="0"/>
              <a:t>Less expensive, more inclusive of “everyone”</a:t>
            </a:r>
          </a:p>
          <a:p>
            <a:pPr lvl="1"/>
            <a:r>
              <a:rPr lang="en-US" dirty="0"/>
              <a:t>Market it as premium</a:t>
            </a:r>
          </a:p>
          <a:p>
            <a:r>
              <a:rPr lang="en-US" dirty="0"/>
              <a:t>Grab an advantage in a limitless potential market</a:t>
            </a:r>
          </a:p>
        </p:txBody>
      </p:sp>
    </p:spTree>
    <p:extLst>
      <p:ext uri="{BB962C8B-B14F-4D97-AF65-F5344CB8AC3E}">
        <p14:creationId xmlns:p14="http://schemas.microsoft.com/office/powerpoint/2010/main" val="13559912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5B9C7E-C7E4-4571-EA4A-287C7C8AAB98}"/>
              </a:ext>
            </a:extLst>
          </p:cNvPr>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Sources</a:t>
            </a:r>
          </a:p>
        </p:txBody>
      </p:sp>
      <p:sp>
        <p:nvSpPr>
          <p:cNvPr id="3" name="Content Placeholder 2">
            <a:extLst>
              <a:ext uri="{FF2B5EF4-FFF2-40B4-BE49-F238E27FC236}">
                <a16:creationId xmlns:a16="http://schemas.microsoft.com/office/drawing/2014/main" id="{47029E12-A6B2-FF8E-2CD0-0799379C94DF}"/>
              </a:ext>
            </a:extLst>
          </p:cNvPr>
          <p:cNvSpPr>
            <a:spLocks noGrp="1"/>
          </p:cNvSpPr>
          <p:nvPr>
            <p:ph idx="1"/>
          </p:nvPr>
        </p:nvSpPr>
        <p:spPr>
          <a:xfrm>
            <a:off x="4810259" y="649480"/>
            <a:ext cx="6555347" cy="5546047"/>
          </a:xfrm>
        </p:spPr>
        <p:txBody>
          <a:bodyPr anchor="ctr">
            <a:normAutofit/>
          </a:bodyPr>
          <a:lstStyle/>
          <a:p>
            <a:r>
              <a:rPr lang="en-US" sz="2000"/>
              <a:t>State of Iowa, Alcoholic Beverages Division. (2014). </a:t>
            </a:r>
            <a:r>
              <a:rPr lang="en-US" sz="2000" i="1"/>
              <a:t>2014 Iowa liquor sales</a:t>
            </a:r>
            <a:r>
              <a:rPr lang="en-US" sz="2000"/>
              <a:t> [Data set]. Iowa Open Data. </a:t>
            </a:r>
            <a:r>
              <a:rPr lang="en-US" sz="2000">
                <a:hlinkClick r:id="rId3"/>
              </a:rPr>
              <a:t>https://data.iowa.gov/Sales-Distribution/2014-Iowa-Liquor-Sales/3m8f-uw4f/about_data</a:t>
            </a:r>
            <a:endParaRPr lang="en-US" sz="2000"/>
          </a:p>
          <a:p>
            <a:r>
              <a:rPr lang="fr-FR" sz="2000"/>
              <a:t>OpenAI. (2024). </a:t>
            </a:r>
            <a:r>
              <a:rPr lang="fr-FR" sz="2000" i="1"/>
              <a:t>ChatGPT</a:t>
            </a:r>
            <a:r>
              <a:rPr lang="fr-FR" sz="2000"/>
              <a:t> (Aug 2024 version) [Large language model]. </a:t>
            </a:r>
            <a:r>
              <a:rPr lang="fr-FR" sz="2000">
                <a:hlinkClick r:id="rId4"/>
              </a:rPr>
              <a:t>https://chat.openai.com/</a:t>
            </a:r>
            <a:endParaRPr lang="en-US" sz="2000"/>
          </a:p>
        </p:txBody>
      </p:sp>
    </p:spTree>
    <p:extLst>
      <p:ext uri="{BB962C8B-B14F-4D97-AF65-F5344CB8AC3E}">
        <p14:creationId xmlns:p14="http://schemas.microsoft.com/office/powerpoint/2010/main" val="13524302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docProps/app.xml><?xml version="1.0" encoding="utf-8"?>
<Properties xmlns="http://schemas.openxmlformats.org/officeDocument/2006/extended-properties" xmlns:vt="http://schemas.openxmlformats.org/officeDocument/2006/docPropsVTypes">
  <Template/>
  <TotalTime>958</TotalTime>
  <Words>1334</Words>
  <Application>Microsoft Office PowerPoint</Application>
  <PresentationFormat>Widescreen</PresentationFormat>
  <Paragraphs>230</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Aptos Display</vt:lpstr>
      <vt:lpstr>Arial</vt:lpstr>
      <vt:lpstr>Office Theme</vt:lpstr>
      <vt:lpstr>Constellation Brands</vt:lpstr>
      <vt:lpstr>Scenario</vt:lpstr>
      <vt:lpstr>Agenda</vt:lpstr>
      <vt:lpstr>Annual Snapshot</vt:lpstr>
      <vt:lpstr>Geographical Analysis</vt:lpstr>
      <vt:lpstr>Geographical Analysis (Cont.)</vt:lpstr>
      <vt:lpstr>Total Revenue vs. Revenue per Capita</vt:lpstr>
      <vt:lpstr>So What?</vt:lpstr>
      <vt:lpstr>Product Performance</vt:lpstr>
      <vt:lpstr>Product Performance (Cont.)</vt:lpstr>
      <vt:lpstr>Black Velvet: The King of the Bottom Shelf</vt:lpstr>
      <vt:lpstr>Tequila Market</vt:lpstr>
      <vt:lpstr>Other Market Mentions</vt:lpstr>
      <vt:lpstr>Other Market Mentions</vt:lpstr>
      <vt:lpstr>Key Takeaways</vt:lpstr>
      <vt:lpstr>The Risky Play</vt:lpstr>
      <vt:lpstr>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longley pham</dc:creator>
  <cp:lastModifiedBy>longley pham</cp:lastModifiedBy>
  <cp:revision>9</cp:revision>
  <dcterms:created xsi:type="dcterms:W3CDTF">2026-04-29T23:22:32Z</dcterms:created>
  <dcterms:modified xsi:type="dcterms:W3CDTF">2026-05-01T14:44:47Z</dcterms:modified>
</cp:coreProperties>
</file>