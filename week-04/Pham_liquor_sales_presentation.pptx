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256" r:id="rId2"/>
    <p:sldId id="268"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0" autoAdjust="0"/>
    <p:restoredTop sz="76091" autoAdjust="0"/>
  </p:normalViewPr>
  <p:slideViewPr>
    <p:cSldViewPr snapToGrid="0">
      <p:cViewPr varScale="1">
        <p:scale>
          <a:sx n="79" d="100"/>
          <a:sy n="79" d="100"/>
        </p:scale>
        <p:origin x="114" y="9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FB398-5626-4DAA-BD19-B2F8F3D1EB3C}"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18230D-6974-4A26-8365-62E356C4785F}" type="slidenum">
              <a:rPr lang="en-US" smtClean="0"/>
              <a:t>‹#›</a:t>
            </a:fld>
            <a:endParaRPr lang="en-US"/>
          </a:p>
        </p:txBody>
      </p:sp>
    </p:spTree>
    <p:extLst>
      <p:ext uri="{BB962C8B-B14F-4D97-AF65-F5344CB8AC3E}">
        <p14:creationId xmlns:p14="http://schemas.microsoft.com/office/powerpoint/2010/main" val="1036821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been brought on as a data consultant by Constellation Brands to analyze sales performance using the Iowa Liquor Sales database, with a specific focus on transactions from 2014. The company wants to better understand how one of its product categories or brands performed during that year across different markets to inform future strategy.</a:t>
            </a:r>
          </a:p>
          <a:p>
            <a:r>
              <a:rPr lang="en-US" dirty="0"/>
              <a:t>Your role is to conduct a SWOT-style analysis by writing SQL queries that explore transaction data, product performance, store activity, and regional trends. You will focus on a specific category or vendor within the dataset to identify strengths, weaknesses, opportunities, and threats based on 2014 sales data.</a:t>
            </a:r>
          </a:p>
          <a:p>
            <a:r>
              <a:rPr lang="en-US" dirty="0"/>
              <a:t>As part of your analysis, you will generate insights from the data and export selected results to create visualizations that support your findings. These insights will be used to present actionable recommendations to Constellation Brands’ leadership team.</a:t>
            </a:r>
          </a:p>
          <a:p>
            <a:r>
              <a:rPr lang="en-US" dirty="0"/>
              <a:t>(OpenAI 2026)</a:t>
            </a:r>
          </a:p>
        </p:txBody>
      </p:sp>
      <p:sp>
        <p:nvSpPr>
          <p:cNvPr id="4" name="Slide Number Placeholder 3"/>
          <p:cNvSpPr>
            <a:spLocks noGrp="1"/>
          </p:cNvSpPr>
          <p:nvPr>
            <p:ph type="sldNum" sz="quarter" idx="5"/>
          </p:nvPr>
        </p:nvSpPr>
        <p:spPr/>
        <p:txBody>
          <a:bodyPr/>
          <a:lstStyle/>
          <a:p>
            <a:fld id="{9A18230D-6974-4A26-8365-62E356C4785F}" type="slidenum">
              <a:rPr lang="en-US" smtClean="0"/>
              <a:t>3</a:t>
            </a:fld>
            <a:endParaRPr lang="en-US"/>
          </a:p>
        </p:txBody>
      </p:sp>
    </p:spTree>
    <p:extLst>
      <p:ext uri="{BB962C8B-B14F-4D97-AF65-F5344CB8AC3E}">
        <p14:creationId xmlns:p14="http://schemas.microsoft.com/office/powerpoint/2010/main" val="31565983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0C216-ABBE-8D37-C37F-25FA8887FF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852CE6F-A9AB-95E3-80B4-8B39C823C1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64872CC-F1D2-7C0B-7A91-5A7EA4E72DBD}"/>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5" name="Footer Placeholder 4">
            <a:extLst>
              <a:ext uri="{FF2B5EF4-FFF2-40B4-BE49-F238E27FC236}">
                <a16:creationId xmlns:a16="http://schemas.microsoft.com/office/drawing/2014/main" id="{925D5788-5883-2A0C-8360-5479C99E0F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691AB2-C3DE-1CF3-CB19-650B7D48BDF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4268001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4E2C8-0B2E-AE1A-1B12-F1A032C6AC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ACFF8B-A2F6-B385-2F04-9B0B9B95D4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54AA8E-0B26-049B-58E0-F05C6AE4EF20}"/>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5" name="Footer Placeholder 4">
            <a:extLst>
              <a:ext uri="{FF2B5EF4-FFF2-40B4-BE49-F238E27FC236}">
                <a16:creationId xmlns:a16="http://schemas.microsoft.com/office/drawing/2014/main" id="{41360ED6-4D01-07D7-D5CA-A9E77491AD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D3BF3C-1B50-9F23-AA1F-FEFB196AB263}"/>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55711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299B5-76AD-49B9-D94A-D4D854A225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8A59465-592E-3469-09C7-83341AD711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7F5368-ED94-0E04-D4CB-59AC54E871D5}"/>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5" name="Footer Placeholder 4">
            <a:extLst>
              <a:ext uri="{FF2B5EF4-FFF2-40B4-BE49-F238E27FC236}">
                <a16:creationId xmlns:a16="http://schemas.microsoft.com/office/drawing/2014/main" id="{2CC9EBC7-813C-56AB-1B4F-D101685B57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629E65-F8A8-465B-2C96-C88FF5CF4F88}"/>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926873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98CB1-620A-7F66-25FF-6BA9B11914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DEA27E-458A-DA83-D4A2-AC9308BCB7A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A64CEB-A3B5-3DF1-A6A3-6B608B78E5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32356E-0F11-8BA0-1CE9-8FF5A705AC1D}"/>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6" name="Footer Placeholder 5">
            <a:extLst>
              <a:ext uri="{FF2B5EF4-FFF2-40B4-BE49-F238E27FC236}">
                <a16:creationId xmlns:a16="http://schemas.microsoft.com/office/drawing/2014/main" id="{EF0BFB7C-7BF8-D014-9A28-B06A37534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703084-C9BE-8D52-0281-D045BB44AE8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033029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8F29A-5FE7-68F6-A4EC-B2B01801A6E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7907BD-5C81-BB53-3D87-AAD9E21FE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44F218-2DC6-B614-BDAD-9F071E0E24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C5BD33-97A0-B226-D03D-1CB1BAE7A9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3A3587-ABB7-C036-0918-12B988957C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034A55B-6364-E750-5F6A-AA174B98D00B}"/>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8" name="Footer Placeholder 7">
            <a:extLst>
              <a:ext uri="{FF2B5EF4-FFF2-40B4-BE49-F238E27FC236}">
                <a16:creationId xmlns:a16="http://schemas.microsoft.com/office/drawing/2014/main" id="{34C4112F-FF48-E8A3-DD75-CA12058944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453181-0B08-D91B-F8A2-0B2F5B3F6039}"/>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08343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125FC-85B2-C59F-0023-4EAB73518A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7D9BB8B-ED93-EFD2-877A-A1E4645F41F6}"/>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4" name="Footer Placeholder 3">
            <a:extLst>
              <a:ext uri="{FF2B5EF4-FFF2-40B4-BE49-F238E27FC236}">
                <a16:creationId xmlns:a16="http://schemas.microsoft.com/office/drawing/2014/main" id="{9EEEBBEB-3274-F051-24ED-6C279E206A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B2CC1-FC26-7C29-1EF9-E5DAF118C53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8993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A87221-40DF-B254-014C-6064FC68168F}"/>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3" name="Footer Placeholder 2">
            <a:extLst>
              <a:ext uri="{FF2B5EF4-FFF2-40B4-BE49-F238E27FC236}">
                <a16:creationId xmlns:a16="http://schemas.microsoft.com/office/drawing/2014/main" id="{E0675CC4-15C9-03A3-C00E-A42D144948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26C29B1-8BB2-6A6B-EB4C-A9D65BEB09D4}"/>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248613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DB467-6A11-F334-427D-E22DCE715B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14BBCDB-D512-1142-D8EF-3DE5EF5D70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49D87F-59E6-B059-D467-6A311EC78C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4B726E6-755B-92C4-D6E4-6D1D6EB7B318}"/>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6" name="Footer Placeholder 5">
            <a:extLst>
              <a:ext uri="{FF2B5EF4-FFF2-40B4-BE49-F238E27FC236}">
                <a16:creationId xmlns:a16="http://schemas.microsoft.com/office/drawing/2014/main" id="{F3F18F86-81AE-4CFE-BBBD-0BDC4DE420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730FEF-0EC0-20F4-8EB2-2E3F8F2FC94B}"/>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995069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C9077-9256-21E1-0B7B-79320CFBDC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AA7BB4-190A-25CF-A156-A669049D6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C0DE329-E939-D274-978E-170926F76D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581775-0D9F-2033-8EE3-EBC78BC23246}"/>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6" name="Footer Placeholder 5">
            <a:extLst>
              <a:ext uri="{FF2B5EF4-FFF2-40B4-BE49-F238E27FC236}">
                <a16:creationId xmlns:a16="http://schemas.microsoft.com/office/drawing/2014/main" id="{17207C39-985B-54AE-3769-645FA8D101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95FB39-DC81-6B44-7319-01CF1B27D5F0}"/>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0636120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34D41-2500-2E5C-2288-6BE886B28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EA5B3BC-1C37-C67D-C808-67CE5C7B8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7D8EA1-8566-FB00-47E1-FC311D938F2F}"/>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5" name="Footer Placeholder 4">
            <a:extLst>
              <a:ext uri="{FF2B5EF4-FFF2-40B4-BE49-F238E27FC236}">
                <a16:creationId xmlns:a16="http://schemas.microsoft.com/office/drawing/2014/main" id="{33EAE053-908E-06A1-A181-6EA9BA996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3F75B1-6C5A-3B29-B885-72B055FABE3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2478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C91304-5035-8EA7-2E90-EC77AC38EBD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B66595E-7A79-B24B-65DC-8B95D1A8DC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358C42-47AC-6903-F607-2C03B414540C}"/>
              </a:ext>
            </a:extLst>
          </p:cNvPr>
          <p:cNvSpPr>
            <a:spLocks noGrp="1"/>
          </p:cNvSpPr>
          <p:nvPr>
            <p:ph type="dt" sz="half" idx="10"/>
          </p:nvPr>
        </p:nvSpPr>
        <p:spPr/>
        <p:txBody>
          <a:bodyPr/>
          <a:lstStyle/>
          <a:p>
            <a:fld id="{1C7CE9BF-C1FF-4E9B-97E6-64DC9D713536}" type="datetimeFigureOut">
              <a:rPr lang="en-US" smtClean="0"/>
              <a:t>4/29/2026</a:t>
            </a:fld>
            <a:endParaRPr lang="en-US"/>
          </a:p>
        </p:txBody>
      </p:sp>
      <p:sp>
        <p:nvSpPr>
          <p:cNvPr id="5" name="Footer Placeholder 4">
            <a:extLst>
              <a:ext uri="{FF2B5EF4-FFF2-40B4-BE49-F238E27FC236}">
                <a16:creationId xmlns:a16="http://schemas.microsoft.com/office/drawing/2014/main" id="{B0EB6995-43EC-238A-BBEB-C6B07C43C5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EB165-A31A-DD4B-D40C-606AECCFC34E}"/>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93219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70ADA6-0734-B067-AF29-E08B42765F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9BAA16-CA26-B566-E2A9-117A51F5E5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7A82CD-C538-C082-32C7-5E105A3302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7CE9BF-C1FF-4E9B-97E6-64DC9D713536}" type="datetimeFigureOut">
              <a:rPr lang="en-US" smtClean="0"/>
              <a:t>4/29/2026</a:t>
            </a:fld>
            <a:endParaRPr lang="en-US"/>
          </a:p>
        </p:txBody>
      </p:sp>
      <p:sp>
        <p:nvSpPr>
          <p:cNvPr id="5" name="Footer Placeholder 4">
            <a:extLst>
              <a:ext uri="{FF2B5EF4-FFF2-40B4-BE49-F238E27FC236}">
                <a16:creationId xmlns:a16="http://schemas.microsoft.com/office/drawing/2014/main" id="{7CE6291B-6194-83AE-28FF-5C4A87F14A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F6377A-8865-AD24-0532-0C19652210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D438EA-64AA-4ADE-A3AB-D3AB0A7C0E5A}" type="slidenum">
              <a:rPr lang="en-US" smtClean="0"/>
              <a:t>‹#›</a:t>
            </a:fld>
            <a:endParaRPr lang="en-US"/>
          </a:p>
        </p:txBody>
      </p:sp>
    </p:spTree>
    <p:extLst>
      <p:ext uri="{BB962C8B-B14F-4D97-AF65-F5344CB8AC3E}">
        <p14:creationId xmlns:p14="http://schemas.microsoft.com/office/powerpoint/2010/main" val="1712895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255CA-1320-E4CB-5684-B5DC954D7862}"/>
              </a:ext>
            </a:extLst>
          </p:cNvPr>
          <p:cNvSpPr>
            <a:spLocks noGrp="1"/>
          </p:cNvSpPr>
          <p:nvPr>
            <p:ph type="ctrTitle"/>
          </p:nvPr>
        </p:nvSpPr>
        <p:spPr/>
        <p:txBody>
          <a:bodyPr/>
          <a:lstStyle/>
          <a:p>
            <a:r>
              <a:rPr lang="en-US" dirty="0"/>
              <a:t>Constellation Brands</a:t>
            </a:r>
          </a:p>
        </p:txBody>
      </p:sp>
      <p:sp>
        <p:nvSpPr>
          <p:cNvPr id="3" name="Subtitle 2">
            <a:extLst>
              <a:ext uri="{FF2B5EF4-FFF2-40B4-BE49-F238E27FC236}">
                <a16:creationId xmlns:a16="http://schemas.microsoft.com/office/drawing/2014/main" id="{C44DC2AA-2A7F-FEC9-1B2C-1D3647D40038}"/>
              </a:ext>
            </a:extLst>
          </p:cNvPr>
          <p:cNvSpPr>
            <a:spLocks noGrp="1"/>
          </p:cNvSpPr>
          <p:nvPr>
            <p:ph type="subTitle" idx="1"/>
          </p:nvPr>
        </p:nvSpPr>
        <p:spPr/>
        <p:txBody>
          <a:bodyPr/>
          <a:lstStyle/>
          <a:p>
            <a:r>
              <a:rPr lang="en-US" dirty="0"/>
              <a:t>Longley Pham</a:t>
            </a:r>
          </a:p>
          <a:p>
            <a:r>
              <a:rPr lang="en-US" dirty="0"/>
              <a:t>Iowa Liquor Sales Analysis</a:t>
            </a:r>
          </a:p>
          <a:p>
            <a:r>
              <a:rPr lang="en-US" dirty="0"/>
              <a:t>YUU – Capstone 1</a:t>
            </a:r>
          </a:p>
        </p:txBody>
      </p:sp>
    </p:spTree>
    <p:extLst>
      <p:ext uri="{BB962C8B-B14F-4D97-AF65-F5344CB8AC3E}">
        <p14:creationId xmlns:p14="http://schemas.microsoft.com/office/powerpoint/2010/main" val="2720321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590B0-CD87-8061-6E30-BFE5DF5D1947}"/>
              </a:ext>
            </a:extLst>
          </p:cNvPr>
          <p:cNvSpPr>
            <a:spLocks noGrp="1"/>
          </p:cNvSpPr>
          <p:nvPr>
            <p:ph type="title"/>
          </p:nvPr>
        </p:nvSpPr>
        <p:spPr/>
        <p:txBody>
          <a:bodyPr/>
          <a:lstStyle/>
          <a:p>
            <a:r>
              <a:rPr lang="en-US" dirty="0"/>
              <a:t>About Us</a:t>
            </a:r>
          </a:p>
        </p:txBody>
      </p:sp>
      <p:sp>
        <p:nvSpPr>
          <p:cNvPr id="3" name="Content Placeholder 2">
            <a:extLst>
              <a:ext uri="{FF2B5EF4-FFF2-40B4-BE49-F238E27FC236}">
                <a16:creationId xmlns:a16="http://schemas.microsoft.com/office/drawing/2014/main" id="{FEE45D3A-A9EC-FB84-F3F2-F395D25570D9}"/>
              </a:ext>
            </a:extLst>
          </p:cNvPr>
          <p:cNvSpPr>
            <a:spLocks noGrp="1"/>
          </p:cNvSpPr>
          <p:nvPr>
            <p:ph idx="1"/>
          </p:nvPr>
        </p:nvSpPr>
        <p:spPr/>
        <p:txBody>
          <a:bodyPr/>
          <a:lstStyle/>
          <a:p>
            <a:r>
              <a:rPr lang="en-US" dirty="0"/>
              <a:t>Leading international producer and marketer of beer, wine, and spirits</a:t>
            </a:r>
          </a:p>
          <a:p>
            <a:pPr lvl="1"/>
            <a:r>
              <a:rPr lang="en-US" dirty="0"/>
              <a:t>Markets in U.S, Mexico, Nea Zealand, and Italy</a:t>
            </a:r>
          </a:p>
          <a:p>
            <a:r>
              <a:rPr lang="en-US" u="sng" dirty="0"/>
              <a:t>Worth Reaching For</a:t>
            </a:r>
          </a:p>
          <a:p>
            <a:r>
              <a:rPr lang="en-US" dirty="0"/>
              <a:t>s</a:t>
            </a:r>
          </a:p>
        </p:txBody>
      </p:sp>
    </p:spTree>
    <p:extLst>
      <p:ext uri="{BB962C8B-B14F-4D97-AF65-F5344CB8AC3E}">
        <p14:creationId xmlns:p14="http://schemas.microsoft.com/office/powerpoint/2010/main" val="2354719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32740-F662-BCD9-5E98-135BDC2BBE9F}"/>
              </a:ext>
            </a:extLst>
          </p:cNvPr>
          <p:cNvSpPr>
            <a:spLocks noGrp="1"/>
          </p:cNvSpPr>
          <p:nvPr>
            <p:ph type="title"/>
          </p:nvPr>
        </p:nvSpPr>
        <p:spPr/>
        <p:txBody>
          <a:bodyPr/>
          <a:lstStyle/>
          <a:p>
            <a:r>
              <a:rPr lang="en-US" dirty="0"/>
              <a:t>Scenario</a:t>
            </a:r>
          </a:p>
        </p:txBody>
      </p:sp>
      <p:sp>
        <p:nvSpPr>
          <p:cNvPr id="3" name="Content Placeholder 2">
            <a:extLst>
              <a:ext uri="{FF2B5EF4-FFF2-40B4-BE49-F238E27FC236}">
                <a16:creationId xmlns:a16="http://schemas.microsoft.com/office/drawing/2014/main" id="{DEC6ED37-AF01-E906-5F3A-EEB9B5127614}"/>
              </a:ext>
            </a:extLst>
          </p:cNvPr>
          <p:cNvSpPr>
            <a:spLocks noGrp="1"/>
          </p:cNvSpPr>
          <p:nvPr>
            <p:ph idx="1"/>
          </p:nvPr>
        </p:nvSpPr>
        <p:spPr/>
        <p:txBody>
          <a:bodyPr/>
          <a:lstStyle/>
          <a:p>
            <a:pPr marL="0" indent="0">
              <a:buNone/>
            </a:pPr>
            <a:r>
              <a:rPr lang="en-US" dirty="0"/>
              <a:t>You have been brought on as a data consultant by Constellation Brands to analyze sales performance using the Iowa Liquor Sales database The company wants to better understand how it performed during that year across different markets to inform future strategy.</a:t>
            </a:r>
          </a:p>
        </p:txBody>
      </p:sp>
    </p:spTree>
    <p:extLst>
      <p:ext uri="{BB962C8B-B14F-4D97-AF65-F5344CB8AC3E}">
        <p14:creationId xmlns:p14="http://schemas.microsoft.com/office/powerpoint/2010/main" val="2707976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18537-E472-8EB1-74F4-698C93711D74}"/>
              </a:ext>
            </a:extLst>
          </p:cNvPr>
          <p:cNvSpPr>
            <a:spLocks noGrp="1"/>
          </p:cNvSpPr>
          <p:nvPr>
            <p:ph type="title"/>
          </p:nvPr>
        </p:nvSpPr>
        <p:spPr/>
        <p:txBody>
          <a:bodyPr/>
          <a:lstStyle/>
          <a:p>
            <a:r>
              <a:rPr lang="en-US" dirty="0"/>
              <a:t>Summary Stats for DB</a:t>
            </a:r>
          </a:p>
        </p:txBody>
      </p:sp>
      <p:sp>
        <p:nvSpPr>
          <p:cNvPr id="3" name="Content Placeholder 2">
            <a:extLst>
              <a:ext uri="{FF2B5EF4-FFF2-40B4-BE49-F238E27FC236}">
                <a16:creationId xmlns:a16="http://schemas.microsoft.com/office/drawing/2014/main" id="{D4CDF3C9-C4DB-FA1A-52F3-3D152FAAFF19}"/>
              </a:ext>
            </a:extLst>
          </p:cNvPr>
          <p:cNvSpPr>
            <a:spLocks noGrp="1"/>
          </p:cNvSpPr>
          <p:nvPr>
            <p:ph idx="1"/>
          </p:nvPr>
        </p:nvSpPr>
        <p:spPr/>
        <p:txBody>
          <a:bodyPr/>
          <a:lstStyle/>
          <a:p>
            <a:r>
              <a:rPr lang="en-US"/>
              <a:t>Time Period (2014-01-01 to 2014-12-31)</a:t>
            </a:r>
          </a:p>
          <a:p>
            <a:endParaRPr lang="en-US" dirty="0"/>
          </a:p>
        </p:txBody>
      </p:sp>
    </p:spTree>
    <p:extLst>
      <p:ext uri="{BB962C8B-B14F-4D97-AF65-F5344CB8AC3E}">
        <p14:creationId xmlns:p14="http://schemas.microsoft.com/office/powerpoint/2010/main" val="34840045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57144-9F3D-F9FD-E111-0A4FC216E8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2CCD00-30CA-51E6-61C2-694CF19FD787}"/>
              </a:ext>
            </a:extLst>
          </p:cNvPr>
          <p:cNvSpPr>
            <a:spLocks noGrp="1"/>
          </p:cNvSpPr>
          <p:nvPr>
            <p:ph type="title"/>
          </p:nvPr>
        </p:nvSpPr>
        <p:spPr/>
        <p:txBody>
          <a:bodyPr/>
          <a:lstStyle/>
          <a:p>
            <a:r>
              <a:rPr lang="en-US" dirty="0"/>
              <a:t>Analysis 1 Strength 1</a:t>
            </a:r>
          </a:p>
        </p:txBody>
      </p:sp>
      <p:sp>
        <p:nvSpPr>
          <p:cNvPr id="3" name="Content Placeholder 2">
            <a:extLst>
              <a:ext uri="{FF2B5EF4-FFF2-40B4-BE49-F238E27FC236}">
                <a16:creationId xmlns:a16="http://schemas.microsoft.com/office/drawing/2014/main" id="{AD823C4C-116C-6C03-68F8-01B397D9709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56150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7C058-1739-8C25-78CF-CAA18FD6B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B0228-75D9-D38D-AB31-304ED08031F5}"/>
              </a:ext>
            </a:extLst>
          </p:cNvPr>
          <p:cNvSpPr>
            <a:spLocks noGrp="1"/>
          </p:cNvSpPr>
          <p:nvPr>
            <p:ph type="title"/>
          </p:nvPr>
        </p:nvSpPr>
        <p:spPr/>
        <p:txBody>
          <a:bodyPr/>
          <a:lstStyle/>
          <a:p>
            <a:r>
              <a:rPr lang="en-US" dirty="0"/>
              <a:t>Analysis 1 Strengths 2</a:t>
            </a:r>
          </a:p>
        </p:txBody>
      </p:sp>
      <p:sp>
        <p:nvSpPr>
          <p:cNvPr id="3" name="Content Placeholder 2">
            <a:extLst>
              <a:ext uri="{FF2B5EF4-FFF2-40B4-BE49-F238E27FC236}">
                <a16:creationId xmlns:a16="http://schemas.microsoft.com/office/drawing/2014/main" id="{19D3E9C4-35D5-66B4-CB4B-4384A3D2890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96620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6F8D8-9E85-FEE4-7A37-E3799247A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C1A9D-2042-8FBB-DEDE-D181A6DE87DC}"/>
              </a:ext>
            </a:extLst>
          </p:cNvPr>
          <p:cNvSpPr>
            <a:spLocks noGrp="1"/>
          </p:cNvSpPr>
          <p:nvPr>
            <p:ph type="title"/>
          </p:nvPr>
        </p:nvSpPr>
        <p:spPr/>
        <p:txBody>
          <a:bodyPr/>
          <a:lstStyle/>
          <a:p>
            <a:r>
              <a:rPr lang="en-US" dirty="0"/>
              <a:t>Analysis 2 Weaknesses 1</a:t>
            </a:r>
          </a:p>
        </p:txBody>
      </p:sp>
      <p:sp>
        <p:nvSpPr>
          <p:cNvPr id="3" name="Content Placeholder 2">
            <a:extLst>
              <a:ext uri="{FF2B5EF4-FFF2-40B4-BE49-F238E27FC236}">
                <a16:creationId xmlns:a16="http://schemas.microsoft.com/office/drawing/2014/main" id="{0395F842-E000-BE3D-C22F-45DD9C95661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50154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A6A4C-7A5C-7A0B-F7C6-0CCF312147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C28EA6-2CCD-7FC7-6EB6-4F0EB72E511F}"/>
              </a:ext>
            </a:extLst>
          </p:cNvPr>
          <p:cNvSpPr>
            <a:spLocks noGrp="1"/>
          </p:cNvSpPr>
          <p:nvPr>
            <p:ph type="title"/>
          </p:nvPr>
        </p:nvSpPr>
        <p:spPr/>
        <p:txBody>
          <a:bodyPr/>
          <a:lstStyle/>
          <a:p>
            <a:r>
              <a:rPr lang="en-US" dirty="0"/>
              <a:t>Analysis 2 Weaknesses 2</a:t>
            </a:r>
          </a:p>
        </p:txBody>
      </p:sp>
      <p:sp>
        <p:nvSpPr>
          <p:cNvPr id="3" name="Content Placeholder 2">
            <a:extLst>
              <a:ext uri="{FF2B5EF4-FFF2-40B4-BE49-F238E27FC236}">
                <a16:creationId xmlns:a16="http://schemas.microsoft.com/office/drawing/2014/main" id="{8134932C-0E57-C49F-2D12-9BB65C82AE8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3516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155D0-0685-0B6D-0C83-2F643820DA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F3DFCE-0E39-2858-5029-E0852243D3E6}"/>
              </a:ext>
            </a:extLst>
          </p:cNvPr>
          <p:cNvSpPr>
            <a:spLocks noGrp="1"/>
          </p:cNvSpPr>
          <p:nvPr>
            <p:ph type="title"/>
          </p:nvPr>
        </p:nvSpPr>
        <p:spPr/>
        <p:txBody>
          <a:bodyPr/>
          <a:lstStyle/>
          <a:p>
            <a:r>
              <a:rPr lang="en-US" dirty="0"/>
              <a:t>Analysis 3 Opportunities 1</a:t>
            </a:r>
          </a:p>
        </p:txBody>
      </p:sp>
      <p:sp>
        <p:nvSpPr>
          <p:cNvPr id="3" name="Content Placeholder 2">
            <a:extLst>
              <a:ext uri="{FF2B5EF4-FFF2-40B4-BE49-F238E27FC236}">
                <a16:creationId xmlns:a16="http://schemas.microsoft.com/office/drawing/2014/main" id="{6D5416EB-D749-4744-3FBF-1CB6BF91BA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357066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19B50-658E-240A-5EF5-18DFB48C4DB3}"/>
              </a:ext>
            </a:extLst>
          </p:cNvPr>
          <p:cNvSpPr>
            <a:spLocks noGrp="1"/>
          </p:cNvSpPr>
          <p:nvPr>
            <p:ph type="title"/>
          </p:nvPr>
        </p:nvSpPr>
        <p:spPr/>
        <p:txBody>
          <a:bodyPr/>
          <a:lstStyle/>
          <a:p>
            <a:r>
              <a:rPr lang="en-US" dirty="0"/>
              <a:t>Analysis 3 Opportunities 2</a:t>
            </a:r>
          </a:p>
        </p:txBody>
      </p:sp>
      <p:sp>
        <p:nvSpPr>
          <p:cNvPr id="3" name="Content Placeholder 2">
            <a:extLst>
              <a:ext uri="{FF2B5EF4-FFF2-40B4-BE49-F238E27FC236}">
                <a16:creationId xmlns:a16="http://schemas.microsoft.com/office/drawing/2014/main" id="{029FA1F5-5121-5C37-06A1-25AEB2125E7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4076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39791-A5E4-7EBE-160C-7195564313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9A12F-D812-A8BC-4584-8F8DA3CC2C85}"/>
              </a:ext>
            </a:extLst>
          </p:cNvPr>
          <p:cNvSpPr>
            <a:spLocks noGrp="1"/>
          </p:cNvSpPr>
          <p:nvPr>
            <p:ph type="title"/>
          </p:nvPr>
        </p:nvSpPr>
        <p:spPr/>
        <p:txBody>
          <a:bodyPr/>
          <a:lstStyle/>
          <a:p>
            <a:r>
              <a:rPr lang="en-US" dirty="0"/>
              <a:t>Analysis 4 Threats 1</a:t>
            </a:r>
          </a:p>
        </p:txBody>
      </p:sp>
      <p:sp>
        <p:nvSpPr>
          <p:cNvPr id="3" name="Content Placeholder 2">
            <a:extLst>
              <a:ext uri="{FF2B5EF4-FFF2-40B4-BE49-F238E27FC236}">
                <a16:creationId xmlns:a16="http://schemas.microsoft.com/office/drawing/2014/main" id="{E964830F-DE1D-3F7F-3D6E-BC23A581A3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68810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40A37-73AC-28A6-0D0D-798D3F4314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FA52B7-8995-E2CD-63AA-0A9EF5A582A5}"/>
              </a:ext>
            </a:extLst>
          </p:cNvPr>
          <p:cNvSpPr>
            <a:spLocks noGrp="1"/>
          </p:cNvSpPr>
          <p:nvPr>
            <p:ph type="title"/>
          </p:nvPr>
        </p:nvSpPr>
        <p:spPr/>
        <p:txBody>
          <a:bodyPr/>
          <a:lstStyle/>
          <a:p>
            <a:r>
              <a:rPr lang="en-US" dirty="0"/>
              <a:t>Analysis 4 Threats 2</a:t>
            </a:r>
          </a:p>
        </p:txBody>
      </p:sp>
      <p:sp>
        <p:nvSpPr>
          <p:cNvPr id="3" name="Content Placeholder 2">
            <a:extLst>
              <a:ext uri="{FF2B5EF4-FFF2-40B4-BE49-F238E27FC236}">
                <a16:creationId xmlns:a16="http://schemas.microsoft.com/office/drawing/2014/main" id="{53CAD553-A6A6-FDE2-71F7-2CC29326351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969445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FE8C0-4E48-07AC-C632-058FD54CF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358D2-DFEF-F660-BFF2-8A83811A93F2}"/>
              </a:ext>
            </a:extLst>
          </p:cNvPr>
          <p:cNvSpPr>
            <a:spLocks noGrp="1"/>
          </p:cNvSpPr>
          <p:nvPr>
            <p:ph type="title"/>
          </p:nvPr>
        </p:nvSpPr>
        <p:spPr/>
        <p:txBody>
          <a:bodyPr/>
          <a:lstStyle/>
          <a:p>
            <a:r>
              <a:rPr lang="en-US" dirty="0"/>
              <a:t>Summary / Recommendation</a:t>
            </a:r>
          </a:p>
        </p:txBody>
      </p:sp>
      <p:sp>
        <p:nvSpPr>
          <p:cNvPr id="3" name="Content Placeholder 2">
            <a:extLst>
              <a:ext uri="{FF2B5EF4-FFF2-40B4-BE49-F238E27FC236}">
                <a16:creationId xmlns:a16="http://schemas.microsoft.com/office/drawing/2014/main" id="{2A64875F-9FA5-82E6-07AA-7126FF3F5A5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319265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197</TotalTime>
  <Words>291</Words>
  <Application>Microsoft Office PowerPoint</Application>
  <PresentationFormat>Widescreen</PresentationFormat>
  <Paragraphs>27</Paragraphs>
  <Slides>13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Constellation Brands</vt:lpstr>
      <vt:lpstr>About Us</vt:lpstr>
      <vt:lpstr>Scenario</vt:lpstr>
      <vt:lpstr>Summary Stats for DB</vt:lpstr>
      <vt:lpstr>Analysis 1 Strength 1</vt:lpstr>
      <vt:lpstr>Analysis 1 Strengths 2</vt:lpstr>
      <vt:lpstr>Analysis 2 Weaknesses 1</vt:lpstr>
      <vt:lpstr>Analysis 2 Weaknesses 2</vt:lpstr>
      <vt:lpstr>Analysis 3 Opportunities 1</vt:lpstr>
      <vt:lpstr>Analysis 3 Opportunities 2</vt:lpstr>
      <vt:lpstr>Analysis 4 Threats 1</vt:lpstr>
      <vt:lpstr>Analysis 4 Threats 2</vt:lpstr>
      <vt:lpstr>Summary / 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longley pham</dc:creator>
  <cp:lastModifiedBy>longley pham</cp:lastModifiedBy>
  <cp:revision>3</cp:revision>
  <dcterms:created xsi:type="dcterms:W3CDTF">2026-04-29T23:22:32Z</dcterms:created>
  <dcterms:modified xsi:type="dcterms:W3CDTF">2026-04-30T03:14:01Z</dcterms:modified>
</cp:coreProperties>
</file>